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9.svg" ContentType="image/svg+xml"/>
  <Override PartName="/ppt/media/image61.svg" ContentType="image/svg+xml"/>
  <Override PartName="/ppt/media/image6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1" r:id="rId13"/>
    <p:sldId id="272" r:id="rId14"/>
    <p:sldId id="267" r:id="rId15"/>
    <p:sldId id="268" r:id="rId16"/>
    <p:sldId id="270" r:id="rId17"/>
    <p:sldId id="271" r:id="rId18"/>
    <p:sldId id="283" r:id="rId19"/>
    <p:sldId id="282" r:id="rId20"/>
    <p:sldId id="284" r:id="rId21"/>
    <p:sldId id="277" r:id="rId22"/>
    <p:sldId id="276" r:id="rId23"/>
    <p:sldId id="273" r:id="rId24"/>
    <p:sldId id="275" r:id="rId25"/>
    <p:sldId id="274" r:id="rId26"/>
    <p:sldId id="278" r:id="rId27"/>
    <p:sldId id="279" r:id="rId28"/>
    <p:sldId id="280" r:id="rId29"/>
  </p:sldIdLst>
  <p:sldSz cx="18288000" cy="10287000"/>
  <p:notesSz cx="6858000" cy="9144000"/>
  <p:embeddedFontLst>
    <p:embeddedFont>
      <p:font typeface="TT Hoves Bold" panose="02000003020000060003"/>
      <p:bold r:id="rId33"/>
    </p:embeddedFont>
    <p:embeddedFont>
      <p:font typeface="Canva Sans Bold" panose="020B0803030501040103"/>
      <p:bold r:id="rId34"/>
    </p:embeddedFont>
    <p:embeddedFont>
      <p:font typeface="TT Hoves" panose="02000003020000060003"/>
      <p:regular r:id="rId35"/>
    </p:embeddedFont>
    <p:embeddedFont>
      <p:font typeface="Montserrat Ultra-Bold" panose="00000900000000000000"/>
      <p:bold r:id="rId36"/>
    </p:embeddedFont>
    <p:embeddedFont>
      <p:font typeface="Montserrat" panose="00000500000000000000"/>
      <p:regular r:id="rId37"/>
    </p:embeddedFont>
    <p:embeddedFont>
      <p:font typeface="Open Sans 1 Bold"/>
      <p:bold r:id="rId38"/>
    </p:embeddedFont>
    <p:embeddedFont>
      <p:font typeface="Montserrat Bold" panose="00000800000000000000"/>
      <p:bold r:id="rId39"/>
    </p:embeddedFont>
    <p:embeddedFont>
      <p:font typeface="Montserrat Italics" panose="00000500000000000000"/>
      <p:italic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1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11"/>
        <p:guide pos="28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font" Target="fonts/font12.fntdata"/><Relationship Id="rId43" Type="http://schemas.openxmlformats.org/officeDocument/2006/relationships/font" Target="fonts/font11.fntdata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slide" Target="slides/slide2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tags" Target="../tags/tag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9" Type="http://schemas.openxmlformats.org/officeDocument/2006/relationships/slideLayout" Target="../slideLayouts/slideLayout7.xml"/><Relationship Id="rId48" Type="http://schemas.openxmlformats.org/officeDocument/2006/relationships/image" Target="../media/image13.png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tags" Target="../tags/tag32.xml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tags" Target="../tags/tag29.xml"/><Relationship Id="rId40" Type="http://schemas.openxmlformats.org/officeDocument/2006/relationships/tags" Target="../tags/tag28.xml"/><Relationship Id="rId4" Type="http://schemas.openxmlformats.org/officeDocument/2006/relationships/tags" Target="../tags/tag2.xml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tags" Target="../tags/tag25.xml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image" Target="../media/image15.svg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tags" Target="../tags/tag13.xml"/><Relationship Id="rId24" Type="http://schemas.openxmlformats.org/officeDocument/2006/relationships/tags" Target="../tags/tag12.xml"/><Relationship Id="rId23" Type="http://schemas.openxmlformats.org/officeDocument/2006/relationships/tags" Target="../tags/tag11.xml"/><Relationship Id="rId22" Type="http://schemas.openxmlformats.org/officeDocument/2006/relationships/tags" Target="../tags/tag10.xml"/><Relationship Id="rId21" Type="http://schemas.openxmlformats.org/officeDocument/2006/relationships/tags" Target="../tags/tag9.xml"/><Relationship Id="rId20" Type="http://schemas.openxmlformats.org/officeDocument/2006/relationships/tags" Target="../tags/tag8.xml"/><Relationship Id="rId2" Type="http://schemas.openxmlformats.org/officeDocument/2006/relationships/image" Target="../media/image14.png"/><Relationship Id="rId19" Type="http://schemas.openxmlformats.org/officeDocument/2006/relationships/tags" Target="../tags/tag7.xml"/><Relationship Id="rId18" Type="http://schemas.openxmlformats.org/officeDocument/2006/relationships/tags" Target="../tags/tag6.xml"/><Relationship Id="rId17" Type="http://schemas.openxmlformats.org/officeDocument/2006/relationships/image" Target="../media/image5.svg"/><Relationship Id="rId16" Type="http://schemas.openxmlformats.org/officeDocument/2006/relationships/image" Target="../media/image4.png"/><Relationship Id="rId15" Type="http://schemas.openxmlformats.org/officeDocument/2006/relationships/image" Target="../media/image23.svg"/><Relationship Id="rId14" Type="http://schemas.openxmlformats.org/officeDocument/2006/relationships/image" Target="../media/image22.png"/><Relationship Id="rId13" Type="http://schemas.openxmlformats.org/officeDocument/2006/relationships/tags" Target="../tags/tag5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tags" Target="../tags/tag4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5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1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image" Target="../media/image41.svg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3" Type="http://schemas.openxmlformats.org/officeDocument/2006/relationships/slideLayout" Target="../slideLayouts/slideLayout7.xml"/><Relationship Id="rId52" Type="http://schemas.openxmlformats.org/officeDocument/2006/relationships/image" Target="../media/image5.svg"/><Relationship Id="rId51" Type="http://schemas.openxmlformats.org/officeDocument/2006/relationships/image" Target="../media/image4.png"/><Relationship Id="rId50" Type="http://schemas.openxmlformats.org/officeDocument/2006/relationships/image" Target="../media/image13.png"/><Relationship Id="rId5" Type="http://schemas.openxmlformats.org/officeDocument/2006/relationships/tags" Target="../tags/tag39.xml"/><Relationship Id="rId49" Type="http://schemas.openxmlformats.org/officeDocument/2006/relationships/tags" Target="../tags/tag77.xml"/><Relationship Id="rId48" Type="http://schemas.openxmlformats.org/officeDocument/2006/relationships/tags" Target="../tags/tag76.xml"/><Relationship Id="rId47" Type="http://schemas.openxmlformats.org/officeDocument/2006/relationships/tags" Target="../tags/tag75.xml"/><Relationship Id="rId46" Type="http://schemas.openxmlformats.org/officeDocument/2006/relationships/tags" Target="../tags/tag74.xml"/><Relationship Id="rId45" Type="http://schemas.openxmlformats.org/officeDocument/2006/relationships/tags" Target="../tags/tag73.xml"/><Relationship Id="rId44" Type="http://schemas.openxmlformats.org/officeDocument/2006/relationships/image" Target="../media/image50.svg"/><Relationship Id="rId43" Type="http://schemas.openxmlformats.org/officeDocument/2006/relationships/image" Target="../media/image49.png"/><Relationship Id="rId42" Type="http://schemas.openxmlformats.org/officeDocument/2006/relationships/tags" Target="../tags/tag72.xml"/><Relationship Id="rId41" Type="http://schemas.openxmlformats.org/officeDocument/2006/relationships/tags" Target="../tags/tag71.xml"/><Relationship Id="rId40" Type="http://schemas.openxmlformats.org/officeDocument/2006/relationships/tags" Target="../tags/tag70.xml"/><Relationship Id="rId4" Type="http://schemas.openxmlformats.org/officeDocument/2006/relationships/tags" Target="../tags/tag38.xml"/><Relationship Id="rId39" Type="http://schemas.openxmlformats.org/officeDocument/2006/relationships/tags" Target="../tags/tag69.xml"/><Relationship Id="rId38" Type="http://schemas.openxmlformats.org/officeDocument/2006/relationships/tags" Target="../tags/tag68.xml"/><Relationship Id="rId37" Type="http://schemas.openxmlformats.org/officeDocument/2006/relationships/tags" Target="../tags/tag67.xml"/><Relationship Id="rId36" Type="http://schemas.openxmlformats.org/officeDocument/2006/relationships/tags" Target="../tags/tag66.xml"/><Relationship Id="rId35" Type="http://schemas.openxmlformats.org/officeDocument/2006/relationships/tags" Target="../tags/tag65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7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image" Target="../media/image48.svg"/><Relationship Id="rId2" Type="http://schemas.openxmlformats.org/officeDocument/2006/relationships/image" Target="../media/image44.png"/><Relationship Id="rId19" Type="http://schemas.openxmlformats.org/officeDocument/2006/relationships/image" Target="../media/image47.png"/><Relationship Id="rId18" Type="http://schemas.openxmlformats.org/officeDocument/2006/relationships/tags" Target="../tags/tag50.xml"/><Relationship Id="rId17" Type="http://schemas.openxmlformats.org/officeDocument/2006/relationships/image" Target="../media/image46.svg"/><Relationship Id="rId16" Type="http://schemas.openxmlformats.org/officeDocument/2006/relationships/image" Target="../media/image45.png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3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.svg"/><Relationship Id="rId1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image" Target="../media/image6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3.jpeg"/><Relationship Id="rId1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873586">
            <a:off x="-7840733" y="-2938005"/>
            <a:ext cx="17405850" cy="11517403"/>
          </a:xfrm>
          <a:custGeom>
            <a:avLst/>
            <a:gdLst/>
            <a:ahLst/>
            <a:cxnLst/>
            <a:rect l="l" t="t" r="r" b="b"/>
            <a:pathLst>
              <a:path w="17405850" h="11517403">
                <a:moveTo>
                  <a:pt x="0" y="0"/>
                </a:moveTo>
                <a:lnTo>
                  <a:pt x="17405850" y="0"/>
                </a:lnTo>
                <a:lnTo>
                  <a:pt x="17405850" y="11517403"/>
                </a:lnTo>
                <a:lnTo>
                  <a:pt x="0" y="11517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14994" y="2057450"/>
            <a:ext cx="9046714" cy="84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5"/>
              </a:lnSpc>
            </a:pPr>
            <a:r>
              <a:rPr lang="en-US" sz="6500" b="1">
                <a:solidFill>
                  <a:srgbClr val="FF313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ĐỒ ÁN TỐT NGHIỆP</a:t>
            </a:r>
            <a:endParaRPr lang="en-US" sz="6500" b="1">
              <a:solidFill>
                <a:srgbClr val="FF3131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14558" y="465208"/>
            <a:ext cx="10485071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TRƯỜNG ĐẠI HỌC TÀI NGUYÊN VÀ MÔI TRƯỜNG TP.HCM</a:t>
            </a:r>
            <a:endParaRPr lang="en-US" sz="2800" b="1">
              <a:solidFill>
                <a:srgbClr val="003060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4190" y="971550"/>
            <a:ext cx="5537835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KHOA CÔNG NGHỆ THÔNG TIN</a:t>
            </a:r>
            <a:endParaRPr lang="en-US" sz="2600" b="1">
              <a:solidFill>
                <a:srgbClr val="003060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086600" y="5905500"/>
            <a:ext cx="8557895" cy="2541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55"/>
              </a:lnSpc>
            </a:pPr>
            <a:r>
              <a:rPr lang="en-US" sz="248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Giảng viên hướng dẫn: ThS. Cao Hữu Thanh Vũ</a:t>
            </a:r>
            <a:endParaRPr lang="en-US" sz="248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l">
              <a:lnSpc>
                <a:spcPts val="4955"/>
              </a:lnSpc>
            </a:pPr>
            <a:r>
              <a:rPr lang="en-US" sz="248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Sinh viên thực hiện: Nguyễn Khánh Duy </a:t>
            </a:r>
            <a:endParaRPr lang="en-US" sz="248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l">
              <a:lnSpc>
                <a:spcPts val="4955"/>
              </a:lnSpc>
            </a:pPr>
            <a:r>
              <a:rPr lang="en-US" sz="248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Lớp: 10_ĐH_CNPM3</a:t>
            </a:r>
            <a:endParaRPr lang="en-US" sz="248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l">
              <a:lnSpc>
                <a:spcPts val="4955"/>
              </a:lnSpc>
            </a:pPr>
            <a:r>
              <a:rPr lang="en-US" sz="248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MSSV: 1050080173</a:t>
            </a:r>
            <a:endParaRPr lang="en-US" sz="248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10000" y="4000500"/>
            <a:ext cx="11609705" cy="1743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400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XÂY DỰNG HỆ THỐNG QUẢN LÝ KHO </a:t>
            </a:r>
            <a:endParaRPr lang="en-US" sz="400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ctr">
              <a:lnSpc>
                <a:spcPts val="6800"/>
              </a:lnSpc>
            </a:pPr>
            <a:r>
              <a:rPr lang="en-US" sz="400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THIẾT BỊ ĐIỆN TỬ TÍCH HỢP AI CHATBOT</a:t>
            </a:r>
            <a:endParaRPr lang="en-US" sz="400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21675" y="3143885"/>
            <a:ext cx="2449830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4AAD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ĐỀ TÀI</a:t>
            </a:r>
            <a:endParaRPr lang="en-US" sz="4000" b="1">
              <a:solidFill>
                <a:srgbClr val="004AAD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12" name="Freeform 12"/>
          <p:cNvSpPr/>
          <p:nvPr/>
        </p:nvSpPr>
        <p:spPr>
          <a:xfrm rot="-519976">
            <a:off x="-1892855" y="6536941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965189" flipV="1">
            <a:off x="13110321" y="-266743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3731712"/>
                </a:moveTo>
                <a:lnTo>
                  <a:pt x="9121961" y="3731712"/>
                </a:lnTo>
                <a:lnTo>
                  <a:pt x="9121961" y="0"/>
                </a:lnTo>
                <a:lnTo>
                  <a:pt x="0" y="0"/>
                </a:lnTo>
                <a:lnTo>
                  <a:pt x="0" y="37317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8528657">
            <a:off x="11525810" y="754980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1" y="0"/>
                </a:lnTo>
                <a:lnTo>
                  <a:pt x="9121961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0"/>
          <p:cNvSpPr/>
          <p:nvPr/>
        </p:nvSpPr>
        <p:spPr>
          <a:xfrm>
            <a:off x="2819400" y="272415"/>
            <a:ext cx="1800225" cy="1612265"/>
          </a:xfrm>
          <a:custGeom>
            <a:avLst/>
            <a:gdLst/>
            <a:ahLst/>
            <a:cxnLst/>
            <a:rect l="l" t="t" r="r" b="b"/>
            <a:pathLst>
              <a:path w="1486286" h="1445704">
                <a:moveTo>
                  <a:pt x="0" y="0"/>
                </a:moveTo>
                <a:lnTo>
                  <a:pt x="1486285" y="0"/>
                </a:lnTo>
                <a:lnTo>
                  <a:pt x="1486285" y="1445704"/>
                </a:lnTo>
                <a:lnTo>
                  <a:pt x="0" y="1445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021" y="620114"/>
            <a:ext cx="16268589" cy="9080831"/>
          </a:xfrm>
          <a:custGeom>
            <a:avLst/>
            <a:gdLst/>
            <a:ahLst/>
            <a:cxnLst/>
            <a:rect l="l" t="t" r="r" b="b"/>
            <a:pathLst>
              <a:path w="16268589" h="9080831">
                <a:moveTo>
                  <a:pt x="0" y="0"/>
                </a:moveTo>
                <a:lnTo>
                  <a:pt x="16268589" y="0"/>
                </a:lnTo>
                <a:lnTo>
                  <a:pt x="16268589" y="9080830"/>
                </a:lnTo>
                <a:lnTo>
                  <a:pt x="0" y="90808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21533" y="4912272"/>
            <a:ext cx="228336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7000" b="1">
                <a:solidFill>
                  <a:srgbClr val="02B1EE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01</a:t>
            </a:r>
            <a:endParaRPr lang="en-US" sz="7000" b="1">
              <a:solidFill>
                <a:srgbClr val="02B1EE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86918" y="3597148"/>
            <a:ext cx="228336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7000" b="1">
                <a:solidFill>
                  <a:srgbClr val="146FCA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02</a:t>
            </a:r>
            <a:endParaRPr lang="en-US" sz="7000" b="1">
              <a:solidFill>
                <a:srgbClr val="146FCA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81598" y="2229034"/>
            <a:ext cx="228336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7000" b="1">
                <a:solidFill>
                  <a:srgbClr val="145DA0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03</a:t>
            </a:r>
            <a:endParaRPr lang="en-US" sz="7000" b="1">
              <a:solidFill>
                <a:srgbClr val="145DA0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247748" y="486764"/>
            <a:ext cx="228336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7000" b="1">
                <a:solidFill>
                  <a:srgbClr val="003060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04</a:t>
            </a:r>
            <a:endParaRPr lang="en-US" sz="7000" b="1">
              <a:solidFill>
                <a:srgbClr val="003060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2734644" y="5905246"/>
            <a:ext cx="2570249" cy="3086100"/>
            <a:chOff x="0" y="0"/>
            <a:chExt cx="676938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6938" cy="812800"/>
            </a:xfrm>
            <a:custGeom>
              <a:avLst/>
              <a:gdLst/>
              <a:ahLst/>
              <a:cxnLst/>
              <a:rect l="l" t="t" r="r" b="b"/>
              <a:pathLst>
                <a:path w="676938" h="812800">
                  <a:moveTo>
                    <a:pt x="57230" y="0"/>
                  </a:moveTo>
                  <a:lnTo>
                    <a:pt x="619708" y="0"/>
                  </a:lnTo>
                  <a:cubicBezTo>
                    <a:pt x="651315" y="0"/>
                    <a:pt x="676938" y="25623"/>
                    <a:pt x="676938" y="57230"/>
                  </a:cubicBezTo>
                  <a:lnTo>
                    <a:pt x="676938" y="755570"/>
                  </a:lnTo>
                  <a:cubicBezTo>
                    <a:pt x="676938" y="787177"/>
                    <a:pt x="651315" y="812800"/>
                    <a:pt x="619708" y="812800"/>
                  </a:cubicBezTo>
                  <a:lnTo>
                    <a:pt x="57230" y="812800"/>
                  </a:lnTo>
                  <a:cubicBezTo>
                    <a:pt x="25623" y="812800"/>
                    <a:pt x="0" y="787177"/>
                    <a:pt x="0" y="755570"/>
                  </a:cubicBezTo>
                  <a:lnTo>
                    <a:pt x="0" y="57230"/>
                  </a:lnTo>
                  <a:cubicBezTo>
                    <a:pt x="0" y="25623"/>
                    <a:pt x="25623" y="0"/>
                    <a:pt x="572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769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343118" y="4563022"/>
            <a:ext cx="2505130" cy="3086100"/>
            <a:chOff x="0" y="0"/>
            <a:chExt cx="659787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9759828" y="3202577"/>
            <a:ext cx="2505130" cy="3086100"/>
            <a:chOff x="0" y="0"/>
            <a:chExt cx="659787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3025978" y="1476922"/>
            <a:ext cx="2505130" cy="3086100"/>
            <a:chOff x="0" y="0"/>
            <a:chExt cx="659787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9787" cy="812800"/>
            </a:xfrm>
            <a:custGeom>
              <a:avLst/>
              <a:gdLst/>
              <a:ahLst/>
              <a:cxnLst/>
              <a:rect l="l" t="t" r="r" b="b"/>
              <a:pathLst>
                <a:path w="659787" h="812800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2590499" y="5761033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105048" y="4388594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59"/>
                </a:lnTo>
                <a:lnTo>
                  <a:pt x="0" y="1024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532278" y="3046014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807422" y="1338224"/>
            <a:ext cx="1025992" cy="1024160"/>
          </a:xfrm>
          <a:custGeom>
            <a:avLst/>
            <a:gdLst/>
            <a:ahLst/>
            <a:cxnLst/>
            <a:rect l="l" t="t" r="r" b="b"/>
            <a:pathLst>
              <a:path w="1025992" h="1024160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476928" y="486763"/>
            <a:ext cx="5231327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LÝ DO CHỌN ĐỀ TÀI</a:t>
            </a:r>
            <a:endParaRPr lang="en-US" sz="41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873370" y="6528815"/>
            <a:ext cx="2292799" cy="251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Quản lý kho truyề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 thống tốn thời gian, dễ sai sót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37616" y="5136440"/>
            <a:ext cx="2239883" cy="251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Thiết bị điện tử có nhiều mặt hàng, hóa đơn lớn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11641" y="3692398"/>
            <a:ext cx="2603030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271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Nhu cầu số</a:t>
            </a:r>
            <a:endParaRPr lang="en-US" sz="271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795"/>
              </a:lnSpc>
            </a:pPr>
            <a:r>
              <a:rPr lang="en-US" sz="271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hóa, tự </a:t>
            </a:r>
            <a:endParaRPr lang="en-US" sz="271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795"/>
              </a:lnSpc>
            </a:pPr>
            <a:r>
              <a:rPr lang="en-US" sz="271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động hóa </a:t>
            </a:r>
            <a:endParaRPr lang="en-US" sz="271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sz="271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ngày</a:t>
            </a:r>
            <a:r>
              <a:rPr lang="en-US" sz="271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càng cao</a:t>
            </a:r>
            <a:endParaRPr lang="en-US" sz="271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795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000471" y="2007782"/>
            <a:ext cx="2530637" cy="301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Chatbot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hỗ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trợ người dùng thao tác nhanh và chính xác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-1521534" y="-2329602"/>
            <a:ext cx="4659204" cy="4659204"/>
          </a:xfrm>
          <a:custGeom>
            <a:avLst/>
            <a:gdLst/>
            <a:ahLst/>
            <a:cxnLst/>
            <a:rect l="l" t="t" r="r" b="b"/>
            <a:pathLst>
              <a:path w="4659204" h="4659204">
                <a:moveTo>
                  <a:pt x="0" y="0"/>
                </a:moveTo>
                <a:lnTo>
                  <a:pt x="4659204" y="0"/>
                </a:lnTo>
                <a:lnTo>
                  <a:pt x="4659204" y="4659204"/>
                </a:lnTo>
                <a:lnTo>
                  <a:pt x="0" y="4659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2321539">
            <a:off x="16967405" y="-2661029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5" y="0"/>
                </a:lnTo>
                <a:lnTo>
                  <a:pt x="10046825" y="10046826"/>
                </a:lnTo>
                <a:lnTo>
                  <a:pt x="0" y="100468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3049335">
            <a:off x="-9027113" y="-5546258"/>
            <a:ext cx="17405850" cy="11517403"/>
          </a:xfrm>
          <a:custGeom>
            <a:avLst/>
            <a:gdLst/>
            <a:ahLst/>
            <a:cxnLst/>
            <a:rect l="l" t="t" r="r" b="b"/>
            <a:pathLst>
              <a:path w="17405850" h="11517403">
                <a:moveTo>
                  <a:pt x="0" y="0"/>
                </a:moveTo>
                <a:lnTo>
                  <a:pt x="17405850" y="0"/>
                </a:lnTo>
                <a:lnTo>
                  <a:pt x="17405850" y="11517403"/>
                </a:lnTo>
                <a:lnTo>
                  <a:pt x="0" y="11517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519976">
            <a:off x="-1674415" y="6689341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9158712">
            <a:off x="11939126" y="794258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1"/>
            </p:custDataLst>
          </p:nvPr>
        </p:nvSpPr>
        <p:spPr>
          <a:xfrm>
            <a:off x="1721613" y="3295151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>
            <p:custDataLst>
              <p:tags r:id="rId4"/>
            </p:custDataLst>
          </p:nvPr>
        </p:nvSpPr>
        <p:spPr>
          <a:xfrm>
            <a:off x="4751566" y="3295151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>
            <p:custDataLst>
              <p:tags r:id="rId7"/>
            </p:custDataLst>
          </p:nvPr>
        </p:nvSpPr>
        <p:spPr>
          <a:xfrm>
            <a:off x="7781519" y="3295151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>
            <p:custDataLst>
              <p:tags r:id="rId10"/>
            </p:custDataLst>
          </p:nvPr>
        </p:nvSpPr>
        <p:spPr>
          <a:xfrm>
            <a:off x="10811473" y="3295151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>
            <p:custDataLst>
              <p:tags r:id="rId13"/>
            </p:custDataLst>
          </p:nvPr>
        </p:nvSpPr>
        <p:spPr>
          <a:xfrm>
            <a:off x="13841426" y="3295151"/>
            <a:ext cx="2470699" cy="1086349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92284">
            <a:off x="-1740455" y="6689341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>
            <p:custDataLst>
              <p:tags r:id="rId18"/>
            </p:custDataLst>
          </p:nvPr>
        </p:nvGrpSpPr>
        <p:grpSpPr>
          <a:xfrm rot="0">
            <a:off x="1721613" y="4533900"/>
            <a:ext cx="2470699" cy="3520464"/>
            <a:chOff x="0" y="0"/>
            <a:chExt cx="650719" cy="927200"/>
          </a:xfrm>
        </p:grpSpPr>
        <p:sp>
          <p:nvSpPr>
            <p:cNvPr id="9" name="Freeform 9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11" name="Group 11"/>
          <p:cNvGrpSpPr/>
          <p:nvPr>
            <p:custDataLst>
              <p:tags r:id="rId20"/>
            </p:custDataLst>
          </p:nvPr>
        </p:nvGrpSpPr>
        <p:grpSpPr>
          <a:xfrm rot="0">
            <a:off x="4798997" y="4533900"/>
            <a:ext cx="2470699" cy="3520464"/>
            <a:chOff x="0" y="0"/>
            <a:chExt cx="650719" cy="927200"/>
          </a:xfrm>
        </p:grpSpPr>
        <p:sp>
          <p:nvSpPr>
            <p:cNvPr id="12" name="Freeform 12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14" name="Group 14"/>
          <p:cNvGrpSpPr/>
          <p:nvPr>
            <p:custDataLst>
              <p:tags r:id="rId22"/>
            </p:custDataLst>
          </p:nvPr>
        </p:nvGrpSpPr>
        <p:grpSpPr>
          <a:xfrm rot="0">
            <a:off x="7876381" y="4533900"/>
            <a:ext cx="2470699" cy="3520464"/>
            <a:chOff x="0" y="0"/>
            <a:chExt cx="650719" cy="927200"/>
          </a:xfrm>
        </p:grpSpPr>
        <p:sp>
          <p:nvSpPr>
            <p:cNvPr id="15" name="Freeform 15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17" name="Group 17"/>
          <p:cNvGrpSpPr/>
          <p:nvPr>
            <p:custDataLst>
              <p:tags r:id="rId24"/>
            </p:custDataLst>
          </p:nvPr>
        </p:nvGrpSpPr>
        <p:grpSpPr>
          <a:xfrm rot="0">
            <a:off x="10953764" y="4533900"/>
            <a:ext cx="2470699" cy="3520464"/>
            <a:chOff x="0" y="0"/>
            <a:chExt cx="650719" cy="927200"/>
          </a:xfrm>
        </p:grpSpPr>
        <p:sp>
          <p:nvSpPr>
            <p:cNvPr id="18" name="Freeform 18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20" name="Group 20"/>
          <p:cNvGrpSpPr/>
          <p:nvPr>
            <p:custDataLst>
              <p:tags r:id="rId26"/>
            </p:custDataLst>
          </p:nvPr>
        </p:nvGrpSpPr>
        <p:grpSpPr>
          <a:xfrm rot="0">
            <a:off x="14031148" y="4533900"/>
            <a:ext cx="2470699" cy="3520464"/>
            <a:chOff x="0" y="0"/>
            <a:chExt cx="650719" cy="927200"/>
          </a:xfrm>
        </p:grpSpPr>
        <p:sp>
          <p:nvSpPr>
            <p:cNvPr id="21" name="Freeform 21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50719" cy="927200"/>
            </a:xfrm>
            <a:custGeom>
              <a:avLst/>
              <a:gdLst/>
              <a:ahLst/>
              <a:cxnLst/>
              <a:rect l="l" t="t" r="r" b="b"/>
              <a:pathLst>
                <a:path w="650719" h="927200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23" name="Group 23"/>
          <p:cNvGrpSpPr/>
          <p:nvPr>
            <p:custDataLst>
              <p:tags r:id="rId28"/>
            </p:custDataLst>
          </p:nvPr>
        </p:nvGrpSpPr>
        <p:grpSpPr>
          <a:xfrm rot="0">
            <a:off x="1828889" y="8198634"/>
            <a:ext cx="2256148" cy="156938"/>
            <a:chOff x="0" y="0"/>
            <a:chExt cx="594212" cy="41334"/>
          </a:xfrm>
        </p:grpSpPr>
        <p:sp>
          <p:nvSpPr>
            <p:cNvPr id="24" name="Freeform 24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2B1E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/>
          <p:nvPr>
            <p:custDataLst>
              <p:tags r:id="rId30"/>
            </p:custDataLst>
          </p:nvPr>
        </p:nvGrpSpPr>
        <p:grpSpPr>
          <a:xfrm rot="0">
            <a:off x="4906273" y="8198634"/>
            <a:ext cx="2256148" cy="156938"/>
            <a:chOff x="0" y="0"/>
            <a:chExt cx="594212" cy="41334"/>
          </a:xfrm>
        </p:grpSpPr>
        <p:sp>
          <p:nvSpPr>
            <p:cNvPr id="27" name="Freeform 27"/>
            <p:cNvSpPr/>
            <p:nvPr>
              <p:custDataLst>
                <p:tags r:id="rId31"/>
              </p:custDataLst>
            </p:nvPr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E86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9" name="Group 29"/>
          <p:cNvGrpSpPr/>
          <p:nvPr>
            <p:custDataLst>
              <p:tags r:id="rId32"/>
            </p:custDataLst>
          </p:nvPr>
        </p:nvGrpSpPr>
        <p:grpSpPr>
          <a:xfrm rot="0">
            <a:off x="7982656" y="8198634"/>
            <a:ext cx="2256148" cy="156938"/>
            <a:chOff x="0" y="0"/>
            <a:chExt cx="594212" cy="41334"/>
          </a:xfrm>
        </p:grpSpPr>
        <p:sp>
          <p:nvSpPr>
            <p:cNvPr id="30" name="Freeform 30"/>
            <p:cNvSpPr/>
            <p:nvPr>
              <p:custDataLst>
                <p:tags r:id="rId33"/>
              </p:custDataLst>
            </p:nvPr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146FCA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2" name="Group 32"/>
          <p:cNvGrpSpPr/>
          <p:nvPr>
            <p:custDataLst>
              <p:tags r:id="rId34"/>
            </p:custDataLst>
          </p:nvPr>
        </p:nvGrpSpPr>
        <p:grpSpPr>
          <a:xfrm rot="0">
            <a:off x="11059539" y="8198634"/>
            <a:ext cx="2256148" cy="156938"/>
            <a:chOff x="0" y="0"/>
            <a:chExt cx="594212" cy="41334"/>
          </a:xfrm>
        </p:grpSpPr>
        <p:sp>
          <p:nvSpPr>
            <p:cNvPr id="33" name="Freeform 33"/>
            <p:cNvSpPr/>
            <p:nvPr>
              <p:custDataLst>
                <p:tags r:id="rId35"/>
              </p:custDataLst>
            </p:nvPr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5" name="Group 35"/>
          <p:cNvGrpSpPr/>
          <p:nvPr>
            <p:custDataLst>
              <p:tags r:id="rId36"/>
            </p:custDataLst>
          </p:nvPr>
        </p:nvGrpSpPr>
        <p:grpSpPr>
          <a:xfrm rot="0">
            <a:off x="14136422" y="8198634"/>
            <a:ext cx="2256148" cy="156938"/>
            <a:chOff x="0" y="0"/>
            <a:chExt cx="594212" cy="41334"/>
          </a:xfrm>
        </p:grpSpPr>
        <p:sp>
          <p:nvSpPr>
            <p:cNvPr id="36" name="Freeform 36"/>
            <p:cNvSpPr/>
            <p:nvPr>
              <p:custDataLst>
                <p:tags r:id="rId37"/>
              </p:custDataLst>
            </p:nvPr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id="38" name="TextBox 38"/>
          <p:cNvSpPr txBox="1"/>
          <p:nvPr>
            <p:custDataLst>
              <p:tags r:id="rId38"/>
            </p:custDataLst>
          </p:nvPr>
        </p:nvSpPr>
        <p:spPr>
          <a:xfrm>
            <a:off x="2389675" y="3550473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>
                <a:solidFill>
                  <a:srgbClr val="02B1EE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01</a:t>
            </a:r>
            <a:endParaRPr lang="en-US" sz="3045" b="1">
              <a:solidFill>
                <a:srgbClr val="02B1EE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39" name="TextBox 39"/>
          <p:cNvSpPr txBox="1"/>
          <p:nvPr>
            <p:custDataLst>
              <p:tags r:id="rId39"/>
            </p:custDataLst>
          </p:nvPr>
        </p:nvSpPr>
        <p:spPr>
          <a:xfrm>
            <a:off x="5419628" y="3550473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>
                <a:solidFill>
                  <a:srgbClr val="0E86D4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02</a:t>
            </a:r>
            <a:endParaRPr lang="en-US" sz="3045" b="1">
              <a:solidFill>
                <a:srgbClr val="0E86D4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0" name="TextBox 40"/>
          <p:cNvSpPr txBox="1"/>
          <p:nvPr>
            <p:custDataLst>
              <p:tags r:id="rId40"/>
            </p:custDataLst>
          </p:nvPr>
        </p:nvSpPr>
        <p:spPr>
          <a:xfrm>
            <a:off x="11322874" y="3550473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>
                <a:solidFill>
                  <a:srgbClr val="145DA0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04</a:t>
            </a:r>
            <a:endParaRPr lang="en-US" sz="3045" b="1">
              <a:solidFill>
                <a:srgbClr val="145DA0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1" name="TextBox 41"/>
          <p:cNvSpPr txBox="1"/>
          <p:nvPr>
            <p:custDataLst>
              <p:tags r:id="rId41"/>
            </p:custDataLst>
          </p:nvPr>
        </p:nvSpPr>
        <p:spPr>
          <a:xfrm>
            <a:off x="8306320" y="3550473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>
                <a:solidFill>
                  <a:srgbClr val="146FCA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03</a:t>
            </a:r>
            <a:endParaRPr lang="en-US" sz="3045" b="1">
              <a:solidFill>
                <a:srgbClr val="146FCA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2" name="TextBox 42"/>
          <p:cNvSpPr txBox="1"/>
          <p:nvPr>
            <p:custDataLst>
              <p:tags r:id="rId42"/>
            </p:custDataLst>
          </p:nvPr>
        </p:nvSpPr>
        <p:spPr>
          <a:xfrm>
            <a:off x="14430446" y="3550473"/>
            <a:ext cx="1134575" cy="51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5" b="1">
                <a:solidFill>
                  <a:srgbClr val="003060"/>
                </a:solidFill>
                <a:latin typeface="TT Hoves Bold" panose="02000003020000060003"/>
                <a:ea typeface="TT Hoves Bold" panose="02000003020000060003"/>
                <a:cs typeface="TT Hoves Bold" panose="02000003020000060003"/>
                <a:sym typeface="TT Hoves Bold" panose="02000003020000060003"/>
              </a:rPr>
              <a:t>05</a:t>
            </a:r>
            <a:endParaRPr lang="en-US" sz="3045" b="1">
              <a:solidFill>
                <a:srgbClr val="003060"/>
              </a:solidFill>
              <a:latin typeface="TT Hoves Bold" panose="02000003020000060003"/>
              <a:ea typeface="TT Hoves Bold" panose="02000003020000060003"/>
              <a:cs typeface="TT Hoves Bold" panose="02000003020000060003"/>
              <a:sym typeface="TT Hoves Bold" panose="02000003020000060003"/>
            </a:endParaRPr>
          </a:p>
        </p:txBody>
      </p:sp>
      <p:sp>
        <p:nvSpPr>
          <p:cNvPr id="43" name="TextBox 43"/>
          <p:cNvSpPr txBox="1"/>
          <p:nvPr>
            <p:custDataLst>
              <p:tags r:id="rId43"/>
            </p:custDataLst>
          </p:nvPr>
        </p:nvSpPr>
        <p:spPr>
          <a:xfrm>
            <a:off x="1828889" y="4975685"/>
            <a:ext cx="2303305" cy="236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r>
              <a:rPr lang="en-US" sz="2635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Xâ</a:t>
            </a:r>
            <a:r>
              <a:rPr lang="en-US" sz="2635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y dựng hệ thống quản</a:t>
            </a:r>
            <a:endParaRPr lang="en-US" sz="2635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r>
              <a:rPr lang="en-US" sz="2635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lý kho </a:t>
            </a:r>
            <a:endParaRPr lang="en-US" sz="2635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r>
              <a:rPr lang="en-US" sz="2635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thông minh</a:t>
            </a:r>
            <a:endParaRPr lang="en-US" sz="2635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algn="ctr">
              <a:lnSpc>
                <a:spcPts val="369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4"/>
          <p:cNvSpPr txBox="1"/>
          <p:nvPr>
            <p:custDataLst>
              <p:tags r:id="rId44"/>
            </p:custDataLst>
          </p:nvPr>
        </p:nvSpPr>
        <p:spPr>
          <a:xfrm>
            <a:off x="4827514" y="4914725"/>
            <a:ext cx="2354112" cy="301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Quả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n lý sản phẩm – nhập – xuất – tồn kho, thống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kê trực quan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5"/>
          <p:cNvSpPr txBox="1"/>
          <p:nvPr>
            <p:custDataLst>
              <p:tags r:id="rId45"/>
            </p:custDataLst>
          </p:nvPr>
        </p:nvSpPr>
        <p:spPr>
          <a:xfrm>
            <a:off x="7809866" y="4838700"/>
            <a:ext cx="2603729" cy="402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Q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uét mã 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vạch, cảnh 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báo hàng sắp hết hạn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hoặc sắp hết số lượng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6"/>
          <p:cNvSpPr txBox="1"/>
          <p:nvPr>
            <p:custDataLst>
              <p:tags r:id="rId46"/>
            </p:custDataLst>
          </p:nvPr>
        </p:nvSpPr>
        <p:spPr>
          <a:xfrm>
            <a:off x="11028729" y="4826535"/>
            <a:ext cx="2358938" cy="301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Tí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ch hợp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OCR + OpenCV 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nhập liệu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hóa đơn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7"/>
          <p:cNvSpPr txBox="1"/>
          <p:nvPr>
            <p:custDataLst>
              <p:tags r:id="rId47"/>
            </p:custDataLst>
          </p:nvPr>
        </p:nvSpPr>
        <p:spPr>
          <a:xfrm>
            <a:off x="14065944" y="4826535"/>
            <a:ext cx="2401109" cy="251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Tích hợp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AI Chatbot</a:t>
            </a: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Canva Sans Bold" panose="020B0803030501040103"/>
                <a:cs typeface="Arial" panose="020B0604020202020204" pitchFamily="34" charset="0"/>
                <a:sym typeface="Canva Sans Bold" panose="020B0803030501040103"/>
              </a:rPr>
              <a:t> hỗ trợ người dùng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Canva Sans Bold" panose="020B0803030501040103"/>
              <a:cs typeface="Arial" panose="020B0604020202020204" pitchFamily="34" charset="0"/>
              <a:sym typeface="Canva Sans Bold" panose="020B08030305010401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512423" y="1322840"/>
            <a:ext cx="6084525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MỤC TIÊU CỦA ĐỀ TÀI</a:t>
            </a:r>
            <a:endParaRPr lang="en-US" sz="41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49" name="Freeform 49"/>
          <p:cNvSpPr/>
          <p:nvPr/>
        </p:nvSpPr>
        <p:spPr>
          <a:xfrm rot="9158712">
            <a:off x="11939126" y="794258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 rot="2965189" flipV="1">
            <a:off x="12420049" y="-457290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3731711"/>
                </a:moveTo>
                <a:lnTo>
                  <a:pt x="9121961" y="3731711"/>
                </a:lnTo>
                <a:lnTo>
                  <a:pt x="9121961" y="0"/>
                </a:lnTo>
                <a:lnTo>
                  <a:pt x="0" y="0"/>
                </a:lnTo>
                <a:lnTo>
                  <a:pt x="0" y="373171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 rot="2321539">
            <a:off x="-8304568" y="-3885950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5" y="0"/>
                </a:lnTo>
                <a:lnTo>
                  <a:pt x="10046825" y="10046825"/>
                </a:lnTo>
                <a:lnTo>
                  <a:pt x="0" y="100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040941" y="1304022"/>
            <a:ext cx="4667331" cy="2601228"/>
            <a:chOff x="0" y="0"/>
            <a:chExt cx="1229256" cy="685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9256" cy="685097"/>
            </a:xfrm>
            <a:custGeom>
              <a:avLst/>
              <a:gdLst/>
              <a:ahLst/>
              <a:cxnLst/>
              <a:rect l="l" t="t" r="r" b="b"/>
              <a:pathLst>
                <a:path w="1229256" h="685097">
                  <a:moveTo>
                    <a:pt x="41469" y="0"/>
                  </a:moveTo>
                  <a:lnTo>
                    <a:pt x="1187787" y="0"/>
                  </a:lnTo>
                  <a:cubicBezTo>
                    <a:pt x="1210690" y="0"/>
                    <a:pt x="1229256" y="18566"/>
                    <a:pt x="1229256" y="41469"/>
                  </a:cubicBezTo>
                  <a:lnTo>
                    <a:pt x="1229256" y="643628"/>
                  </a:lnTo>
                  <a:cubicBezTo>
                    <a:pt x="1229256" y="654627"/>
                    <a:pt x="1224887" y="665174"/>
                    <a:pt x="1217110" y="672951"/>
                  </a:cubicBezTo>
                  <a:cubicBezTo>
                    <a:pt x="1209333" y="680728"/>
                    <a:pt x="1198785" y="685097"/>
                    <a:pt x="1187787" y="685097"/>
                  </a:cubicBezTo>
                  <a:lnTo>
                    <a:pt x="41469" y="685097"/>
                  </a:lnTo>
                  <a:cubicBezTo>
                    <a:pt x="18566" y="685097"/>
                    <a:pt x="0" y="666531"/>
                    <a:pt x="0" y="643628"/>
                  </a:cubicBezTo>
                  <a:lnTo>
                    <a:pt x="0" y="41469"/>
                  </a:lnTo>
                  <a:cubicBezTo>
                    <a:pt x="0" y="30470"/>
                    <a:pt x="4369" y="19923"/>
                    <a:pt x="12146" y="12146"/>
                  </a:cubicBezTo>
                  <a:cubicBezTo>
                    <a:pt x="19923" y="4369"/>
                    <a:pt x="30470" y="0"/>
                    <a:pt x="414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29256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442757">
            <a:off x="13727019" y="-2152390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429275">
            <a:off x="-1439492" y="7835440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3"/>
                </a:lnTo>
                <a:lnTo>
                  <a:pt x="0" y="62382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3263959" y="6388093"/>
            <a:ext cx="4764840" cy="2601228"/>
            <a:chOff x="0" y="0"/>
            <a:chExt cx="1254937" cy="6850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937" cy="685097"/>
            </a:xfrm>
            <a:custGeom>
              <a:avLst/>
              <a:gdLst/>
              <a:ahLst/>
              <a:cxnLst/>
              <a:rect l="l" t="t" r="r" b="b"/>
              <a:pathLst>
                <a:path w="1254937" h="685097">
                  <a:moveTo>
                    <a:pt x="40620" y="0"/>
                  </a:moveTo>
                  <a:lnTo>
                    <a:pt x="1214317" y="0"/>
                  </a:lnTo>
                  <a:cubicBezTo>
                    <a:pt x="1236751" y="0"/>
                    <a:pt x="1254937" y="18186"/>
                    <a:pt x="1254937" y="40620"/>
                  </a:cubicBezTo>
                  <a:lnTo>
                    <a:pt x="1254937" y="644477"/>
                  </a:lnTo>
                  <a:cubicBezTo>
                    <a:pt x="1254937" y="666911"/>
                    <a:pt x="1236751" y="685097"/>
                    <a:pt x="1214317" y="685097"/>
                  </a:cubicBezTo>
                  <a:lnTo>
                    <a:pt x="40620" y="685097"/>
                  </a:lnTo>
                  <a:cubicBezTo>
                    <a:pt x="18186" y="685097"/>
                    <a:pt x="0" y="666911"/>
                    <a:pt x="0" y="644477"/>
                  </a:cubicBezTo>
                  <a:lnTo>
                    <a:pt x="0" y="40620"/>
                  </a:lnTo>
                  <a:cubicBezTo>
                    <a:pt x="0" y="18186"/>
                    <a:pt x="18186" y="0"/>
                    <a:pt x="406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54937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111782" y="391334"/>
            <a:ext cx="9852234" cy="8740427"/>
          </a:xfrm>
          <a:custGeom>
            <a:avLst/>
            <a:gdLst/>
            <a:ahLst/>
            <a:cxnLst/>
            <a:rect l="l" t="t" r="r" b="b"/>
            <a:pathLst>
              <a:path w="9852234" h="8740427">
                <a:moveTo>
                  <a:pt x="0" y="0"/>
                </a:moveTo>
                <a:lnTo>
                  <a:pt x="9852234" y="0"/>
                </a:lnTo>
                <a:lnTo>
                  <a:pt x="9852234" y="8740427"/>
                </a:lnTo>
                <a:lnTo>
                  <a:pt x="0" y="8740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838676" y="1948845"/>
            <a:ext cx="1048991" cy="1311583"/>
          </a:xfrm>
          <a:custGeom>
            <a:avLst/>
            <a:gdLst/>
            <a:ahLst/>
            <a:cxnLst/>
            <a:rect l="l" t="t" r="r" b="b"/>
            <a:pathLst>
              <a:path w="1048991" h="1311583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61694" y="7032916"/>
            <a:ext cx="1048991" cy="1311583"/>
          </a:xfrm>
          <a:custGeom>
            <a:avLst/>
            <a:gdLst/>
            <a:ahLst/>
            <a:cxnLst/>
            <a:rect l="l" t="t" r="r" b="b"/>
            <a:pathLst>
              <a:path w="1048991" h="1311583">
                <a:moveTo>
                  <a:pt x="0" y="0"/>
                </a:moveTo>
                <a:lnTo>
                  <a:pt x="1048991" y="0"/>
                </a:lnTo>
                <a:lnTo>
                  <a:pt x="1048991" y="1311582"/>
                </a:lnTo>
                <a:lnTo>
                  <a:pt x="0" y="13115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023305" y="1176193"/>
            <a:ext cx="4543457" cy="2601228"/>
            <a:chOff x="0" y="0"/>
            <a:chExt cx="1196631" cy="6850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6631" cy="685097"/>
            </a:xfrm>
            <a:custGeom>
              <a:avLst/>
              <a:gdLst/>
              <a:ahLst/>
              <a:cxnLst/>
              <a:rect l="l" t="t" r="r" b="b"/>
              <a:pathLst>
                <a:path w="1196631" h="685097">
                  <a:moveTo>
                    <a:pt x="42599" y="0"/>
                  </a:moveTo>
                  <a:lnTo>
                    <a:pt x="1154031" y="0"/>
                  </a:lnTo>
                  <a:cubicBezTo>
                    <a:pt x="1177558" y="0"/>
                    <a:pt x="1196631" y="19072"/>
                    <a:pt x="1196631" y="42599"/>
                  </a:cubicBezTo>
                  <a:lnTo>
                    <a:pt x="1196631" y="642498"/>
                  </a:lnTo>
                  <a:cubicBezTo>
                    <a:pt x="1196631" y="653796"/>
                    <a:pt x="1192143" y="664631"/>
                    <a:pt x="1184154" y="672620"/>
                  </a:cubicBezTo>
                  <a:cubicBezTo>
                    <a:pt x="1176165" y="680609"/>
                    <a:pt x="1165329" y="685097"/>
                    <a:pt x="1154031" y="685097"/>
                  </a:cubicBezTo>
                  <a:lnTo>
                    <a:pt x="42599" y="685097"/>
                  </a:lnTo>
                  <a:cubicBezTo>
                    <a:pt x="19072" y="685097"/>
                    <a:pt x="0" y="666025"/>
                    <a:pt x="0" y="642498"/>
                  </a:cubicBezTo>
                  <a:lnTo>
                    <a:pt x="0" y="42599"/>
                  </a:lnTo>
                  <a:cubicBezTo>
                    <a:pt x="0" y="19072"/>
                    <a:pt x="19072" y="0"/>
                    <a:pt x="425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196631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784603" y="1866254"/>
            <a:ext cx="1048991" cy="1311583"/>
          </a:xfrm>
          <a:custGeom>
            <a:avLst/>
            <a:gdLst/>
            <a:ahLst/>
            <a:cxnLst/>
            <a:rect l="l" t="t" r="r" b="b"/>
            <a:pathLst>
              <a:path w="1048991" h="1311583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31982" y="1661390"/>
            <a:ext cx="3834780" cy="15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Hoạt động quản lý kho thiết bị điện tử quy mô vừa và nhỏ.</a:t>
            </a:r>
            <a:endParaRPr lang="en-US" sz="29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87667" y="1621803"/>
            <a:ext cx="3671274" cy="251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Quản lý sản phẩm, nhà cung cấp, đơn nhập/xuất, hóa đơn, tồn kho, cảnh báo.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110685" y="6831099"/>
            <a:ext cx="3787714" cy="259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9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Website + Ứng dụng di động (.NET MAUI)</a:t>
            </a:r>
            <a:r>
              <a:rPr lang="vi-VN" altLang="en-US" sz="289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,</a:t>
            </a:r>
            <a:endParaRPr lang="en-US" sz="289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4045"/>
              </a:lnSpc>
              <a:spcBef>
                <a:spcPct val="0"/>
              </a:spcBef>
            </a:pPr>
            <a:r>
              <a:rPr lang="en-US" sz="289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Tích hợp AI Chatbot</a:t>
            </a:r>
            <a:r>
              <a:rPr lang="vi-VN" altLang="en-US" sz="289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.</a:t>
            </a:r>
            <a:endParaRPr lang="en-US" sz="289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4045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4045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6216" y="2145369"/>
            <a:ext cx="845766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01</a:t>
            </a:r>
            <a:endParaRPr lang="en-US" sz="27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854563" y="2225346"/>
            <a:ext cx="845766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02</a:t>
            </a:r>
            <a:endParaRPr lang="en-US" sz="27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077581" y="7309417"/>
            <a:ext cx="845766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03</a:t>
            </a:r>
            <a:endParaRPr lang="en-US" sz="27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45353" y="4017658"/>
            <a:ext cx="5071128" cy="193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PHẠM VI VÀ </a:t>
            </a:r>
            <a:endParaRPr lang="en-US" sz="36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ĐỐI TƯỢNG </a:t>
            </a:r>
            <a:endParaRPr lang="en-US" sz="36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NGHIÊN CỨU</a:t>
            </a:r>
            <a:endParaRPr lang="en-US" sz="36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20041" y="1651865"/>
            <a:ext cx="2914924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P</a:t>
            </a: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hạm vi</a:t>
            </a:r>
            <a:endParaRPr lang="en-US" sz="28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09374" y="5911619"/>
            <a:ext cx="2814214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Nề</a:t>
            </a: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n tảng</a:t>
            </a:r>
            <a:endParaRPr lang="en-US" sz="28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756558" y="5755280"/>
            <a:ext cx="3243294" cy="113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Đối t</a:t>
            </a:r>
            <a:r>
              <a:rPr lang="en-US" sz="3275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ượng</a:t>
            </a:r>
            <a:endParaRPr lang="en-US" sz="3275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4585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7"/>
          <p:cNvSpPr/>
          <p:nvPr/>
        </p:nvSpPr>
        <p:spPr>
          <a:xfrm rot="5206530">
            <a:off x="-4362446" y="944813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00" y="789280"/>
            <a:ext cx="8534270" cy="8708439"/>
          </a:xfrm>
          <a:custGeom>
            <a:avLst/>
            <a:gdLst/>
            <a:ahLst/>
            <a:cxnLst/>
            <a:rect l="l" t="t" r="r" b="b"/>
            <a:pathLst>
              <a:path w="8534270" h="8708439">
                <a:moveTo>
                  <a:pt x="0" y="0"/>
                </a:moveTo>
                <a:lnTo>
                  <a:pt x="8534270" y="0"/>
                </a:lnTo>
                <a:lnTo>
                  <a:pt x="8534270" y="8708440"/>
                </a:lnTo>
                <a:lnTo>
                  <a:pt x="0" y="870844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9979422" y="980573"/>
            <a:ext cx="3254725" cy="2688172"/>
            <a:chOff x="0" y="0"/>
            <a:chExt cx="857212" cy="7079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57212" cy="755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9980112" y="3799414"/>
            <a:ext cx="3254725" cy="2688172"/>
            <a:chOff x="0" y="0"/>
            <a:chExt cx="857212" cy="7079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9856760" y="980573"/>
            <a:ext cx="2402157" cy="925922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56760" y="3935445"/>
            <a:ext cx="2402157" cy="925922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9980112" y="6754286"/>
            <a:ext cx="3254725" cy="2688172"/>
            <a:chOff x="0" y="0"/>
            <a:chExt cx="857212" cy="7079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9856760" y="6890317"/>
            <a:ext cx="2402157" cy="925922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0">
            <a:off x="13729664" y="2321978"/>
            <a:ext cx="3529636" cy="2688172"/>
            <a:chOff x="0" y="0"/>
            <a:chExt cx="929616" cy="7079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9616" cy="707996"/>
            </a:xfrm>
            <a:custGeom>
              <a:avLst/>
              <a:gdLst/>
              <a:ahLst/>
              <a:cxnLst/>
              <a:rect l="l" t="t" r="r" b="b"/>
              <a:pathLst>
                <a:path w="929616" h="707996">
                  <a:moveTo>
                    <a:pt x="54835" y="0"/>
                  </a:moveTo>
                  <a:lnTo>
                    <a:pt x="874781" y="0"/>
                  </a:lnTo>
                  <a:cubicBezTo>
                    <a:pt x="889324" y="0"/>
                    <a:pt x="903272" y="5777"/>
                    <a:pt x="913555" y="16061"/>
                  </a:cubicBezTo>
                  <a:cubicBezTo>
                    <a:pt x="923839" y="26344"/>
                    <a:pt x="929616" y="40292"/>
                    <a:pt x="929616" y="54835"/>
                  </a:cubicBezTo>
                  <a:lnTo>
                    <a:pt x="929616" y="653161"/>
                  </a:lnTo>
                  <a:cubicBezTo>
                    <a:pt x="929616" y="683445"/>
                    <a:pt x="905066" y="707996"/>
                    <a:pt x="874781" y="707996"/>
                  </a:cubicBezTo>
                  <a:lnTo>
                    <a:pt x="54835" y="707996"/>
                  </a:lnTo>
                  <a:cubicBezTo>
                    <a:pt x="40292" y="707996"/>
                    <a:pt x="26344" y="702219"/>
                    <a:pt x="16061" y="691935"/>
                  </a:cubicBezTo>
                  <a:cubicBezTo>
                    <a:pt x="5777" y="681652"/>
                    <a:pt x="0" y="667704"/>
                    <a:pt x="0" y="653161"/>
                  </a:cubicBezTo>
                  <a:lnTo>
                    <a:pt x="0" y="54835"/>
                  </a:lnTo>
                  <a:cubicBezTo>
                    <a:pt x="0" y="40292"/>
                    <a:pt x="5777" y="26344"/>
                    <a:pt x="16061" y="16061"/>
                  </a:cubicBezTo>
                  <a:cubicBezTo>
                    <a:pt x="26344" y="5777"/>
                    <a:pt x="40292" y="0"/>
                    <a:pt x="548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29616" cy="72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606312" y="2458009"/>
            <a:ext cx="2402157" cy="925922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13729664" y="5276850"/>
            <a:ext cx="3529636" cy="2688172"/>
            <a:chOff x="0" y="0"/>
            <a:chExt cx="929616" cy="7079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9616" cy="707996"/>
            </a:xfrm>
            <a:custGeom>
              <a:avLst/>
              <a:gdLst/>
              <a:ahLst/>
              <a:cxnLst/>
              <a:rect l="l" t="t" r="r" b="b"/>
              <a:pathLst>
                <a:path w="929616" h="707996">
                  <a:moveTo>
                    <a:pt x="54835" y="0"/>
                  </a:moveTo>
                  <a:lnTo>
                    <a:pt x="874781" y="0"/>
                  </a:lnTo>
                  <a:cubicBezTo>
                    <a:pt x="889324" y="0"/>
                    <a:pt x="903272" y="5777"/>
                    <a:pt x="913555" y="16061"/>
                  </a:cubicBezTo>
                  <a:cubicBezTo>
                    <a:pt x="923839" y="26344"/>
                    <a:pt x="929616" y="40292"/>
                    <a:pt x="929616" y="54835"/>
                  </a:cubicBezTo>
                  <a:lnTo>
                    <a:pt x="929616" y="653161"/>
                  </a:lnTo>
                  <a:cubicBezTo>
                    <a:pt x="929616" y="683445"/>
                    <a:pt x="905066" y="707996"/>
                    <a:pt x="874781" y="707996"/>
                  </a:cubicBezTo>
                  <a:lnTo>
                    <a:pt x="54835" y="707996"/>
                  </a:lnTo>
                  <a:cubicBezTo>
                    <a:pt x="40292" y="707996"/>
                    <a:pt x="26344" y="702219"/>
                    <a:pt x="16061" y="691935"/>
                  </a:cubicBezTo>
                  <a:cubicBezTo>
                    <a:pt x="5777" y="681652"/>
                    <a:pt x="0" y="667704"/>
                    <a:pt x="0" y="653161"/>
                  </a:cubicBezTo>
                  <a:lnTo>
                    <a:pt x="0" y="54835"/>
                  </a:lnTo>
                  <a:cubicBezTo>
                    <a:pt x="0" y="40292"/>
                    <a:pt x="5777" y="26344"/>
                    <a:pt x="16061" y="16061"/>
                  </a:cubicBezTo>
                  <a:cubicBezTo>
                    <a:pt x="26344" y="5777"/>
                    <a:pt x="40292" y="0"/>
                    <a:pt x="548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29616" cy="72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06312" y="5412881"/>
            <a:ext cx="2402157" cy="925922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329423" y="4530144"/>
            <a:ext cx="3780424" cy="194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PHƯƠNG PHÁP NGHIÊN CỨU</a:t>
            </a:r>
            <a:endParaRPr lang="en-US" sz="3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ctr">
              <a:lnSpc>
                <a:spcPts val="4255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00599" y="2141003"/>
            <a:ext cx="289188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Phân</a:t>
            </a: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tích yêu cầu nghiệp vụ thực tế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100599" y="5099492"/>
            <a:ext cx="301237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Th</a:t>
            </a: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iết kế hệ thống theo mô hình MVC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601195" y="1152942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01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601195" y="4109163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02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152842" y="7961264"/>
            <a:ext cx="3081995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Ứng dụng</a:t>
            </a: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OpenCV + Tesseract OCR + Gemini AI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601195" y="7064035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03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901587" y="3618439"/>
            <a:ext cx="325425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Tích hợp AI</a:t>
            </a: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Chatbot (Gemini AI)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350747" y="2649428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04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67592" y="6573311"/>
            <a:ext cx="32537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Kiểm</a:t>
            </a: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thử và đánh giá hiệu năng hệ thống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131354" y="5586599"/>
            <a:ext cx="718838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05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079701" y="2032735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01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555242" y="2918242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02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804964" y="6306419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03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720191" y="7907872"/>
            <a:ext cx="49944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04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715235" y="5876731"/>
            <a:ext cx="718838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05</a:t>
            </a:r>
            <a:endParaRPr lang="en-US" sz="31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9" name="Freeform 39"/>
          <p:cNvSpPr/>
          <p:nvPr/>
        </p:nvSpPr>
        <p:spPr>
          <a:xfrm rot="5206530">
            <a:off x="-4362446" y="944813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-93147">
            <a:off x="-3780038" y="6844577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2" y="0"/>
                </a:lnTo>
                <a:lnTo>
                  <a:pt x="15248942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 rot="9158712">
            <a:off x="11800622" y="8097824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1" y="0"/>
                </a:lnTo>
                <a:lnTo>
                  <a:pt x="9121961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rot="4052134">
            <a:off x="13767133" y="-46413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1" y="0"/>
                </a:lnTo>
                <a:lnTo>
                  <a:pt x="9121961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rot="10667810" flipV="1">
            <a:off x="-6547455" y="-6657923"/>
            <a:ext cx="21715719" cy="8883703"/>
          </a:xfrm>
          <a:custGeom>
            <a:avLst/>
            <a:gdLst/>
            <a:ahLst/>
            <a:cxnLst/>
            <a:rect l="l" t="t" r="r" b="b"/>
            <a:pathLst>
              <a:path w="21715719" h="8883703">
                <a:moveTo>
                  <a:pt x="0" y="8883703"/>
                </a:moveTo>
                <a:lnTo>
                  <a:pt x="21715719" y="8883703"/>
                </a:lnTo>
                <a:lnTo>
                  <a:pt x="21715719" y="0"/>
                </a:lnTo>
                <a:lnTo>
                  <a:pt x="0" y="0"/>
                </a:lnTo>
                <a:lnTo>
                  <a:pt x="0" y="8883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1"/>
            </p:custDataLst>
          </p:nvPr>
        </p:nvSpPr>
        <p:spPr>
          <a:xfrm>
            <a:off x="925495" y="8077266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>
            <p:custDataLst>
              <p:tags r:id="rId3"/>
            </p:custDataLst>
          </p:nvPr>
        </p:nvSpPr>
        <p:spPr>
          <a:xfrm>
            <a:off x="3702270" y="6339367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9252541" y="6339367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6477406" y="8077266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12031792" y="8077266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>
            <p:custDataLst>
              <p:tags r:id="rId7"/>
            </p:custDataLst>
          </p:nvPr>
        </p:nvGrpSpPr>
        <p:grpSpPr>
          <a:xfrm rot="0">
            <a:off x="925495" y="5660427"/>
            <a:ext cx="2439821" cy="2556575"/>
            <a:chOff x="0" y="0"/>
            <a:chExt cx="764074" cy="800638"/>
          </a:xfrm>
        </p:grpSpPr>
        <p:sp>
          <p:nvSpPr>
            <p:cNvPr id="8" name="Freeform 8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>
            <p:custDataLst>
              <p:tags r:id="rId9"/>
            </p:custDataLst>
          </p:nvPr>
        </p:nvGrpSpPr>
        <p:grpSpPr>
          <a:xfrm rot="0">
            <a:off x="3702270" y="3922528"/>
            <a:ext cx="2439821" cy="2556575"/>
            <a:chOff x="0" y="0"/>
            <a:chExt cx="764074" cy="800638"/>
          </a:xfrm>
        </p:grpSpPr>
        <p:sp>
          <p:nvSpPr>
            <p:cNvPr id="11" name="Freeform 11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>
            <p:custDataLst>
              <p:tags r:id="rId11"/>
            </p:custDataLst>
          </p:nvPr>
        </p:nvGrpSpPr>
        <p:grpSpPr>
          <a:xfrm rot="0">
            <a:off x="9252541" y="3922528"/>
            <a:ext cx="2439821" cy="2556575"/>
            <a:chOff x="0" y="0"/>
            <a:chExt cx="764074" cy="800638"/>
          </a:xfrm>
        </p:grpSpPr>
        <p:sp>
          <p:nvSpPr>
            <p:cNvPr id="14" name="Freeform 14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>
            <p:custDataLst>
              <p:tags r:id="rId13"/>
            </p:custDataLst>
          </p:nvPr>
        </p:nvGrpSpPr>
        <p:grpSpPr>
          <a:xfrm rot="0">
            <a:off x="6477406" y="5660427"/>
            <a:ext cx="2439821" cy="2556575"/>
            <a:chOff x="0" y="0"/>
            <a:chExt cx="764074" cy="800638"/>
          </a:xfrm>
        </p:grpSpPr>
        <p:sp>
          <p:nvSpPr>
            <p:cNvPr id="17" name="Freeform 17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Freeform 19"/>
          <p:cNvSpPr/>
          <p:nvPr>
            <p:custDataLst>
              <p:tags r:id="rId15"/>
            </p:custDataLst>
          </p:nvPr>
        </p:nvSpPr>
        <p:spPr>
          <a:xfrm>
            <a:off x="809498" y="4202062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>
            <p:custDataLst>
              <p:tags r:id="rId18"/>
            </p:custDataLst>
          </p:nvPr>
        </p:nvSpPr>
        <p:spPr>
          <a:xfrm>
            <a:off x="3586273" y="2449419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>
            <p:custDataLst>
              <p:tags r:id="rId21"/>
            </p:custDataLst>
          </p:nvPr>
        </p:nvSpPr>
        <p:spPr>
          <a:xfrm>
            <a:off x="6361408" y="4202062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>
            <p:custDataLst>
              <p:tags r:id="rId22"/>
            </p:custDataLst>
          </p:nvPr>
        </p:nvSpPr>
        <p:spPr>
          <a:xfrm>
            <a:off x="9136543" y="2449419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>
            <p:custDataLst>
              <p:tags r:id="rId23"/>
            </p:custDataLst>
          </p:nvPr>
        </p:nvSpPr>
        <p:spPr>
          <a:xfrm>
            <a:off x="11915795" y="4202062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>
            <p:custDataLst>
              <p:tags r:id="rId24"/>
            </p:custDataLst>
          </p:nvPr>
        </p:nvGrpSpPr>
        <p:grpSpPr>
          <a:xfrm rot="0">
            <a:off x="12031792" y="5660427"/>
            <a:ext cx="2439821" cy="2556575"/>
            <a:chOff x="0" y="0"/>
            <a:chExt cx="764074" cy="800638"/>
          </a:xfrm>
        </p:grpSpPr>
        <p:sp>
          <p:nvSpPr>
            <p:cNvPr id="25" name="Freeform 25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7"/>
          <p:cNvSpPr txBox="1"/>
          <p:nvPr>
            <p:custDataLst>
              <p:tags r:id="rId26"/>
            </p:custDataLst>
          </p:nvPr>
        </p:nvSpPr>
        <p:spPr>
          <a:xfrm>
            <a:off x="1530188" y="4382119"/>
            <a:ext cx="1230436" cy="39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01</a:t>
            </a:r>
            <a:endParaRPr 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8" name="TextBox 28"/>
          <p:cNvSpPr txBox="1"/>
          <p:nvPr>
            <p:custDataLst>
              <p:tags r:id="rId27"/>
            </p:custDataLst>
          </p:nvPr>
        </p:nvSpPr>
        <p:spPr>
          <a:xfrm>
            <a:off x="4306963" y="2641090"/>
            <a:ext cx="1230436" cy="39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02</a:t>
            </a:r>
            <a:endParaRPr 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9" name="TextBox 29"/>
          <p:cNvSpPr txBox="1"/>
          <p:nvPr>
            <p:custDataLst>
              <p:tags r:id="rId28"/>
            </p:custDataLst>
          </p:nvPr>
        </p:nvSpPr>
        <p:spPr>
          <a:xfrm>
            <a:off x="9857233" y="2641090"/>
            <a:ext cx="1230436" cy="39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04</a:t>
            </a:r>
            <a:endParaRPr 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0" name="TextBox 30"/>
          <p:cNvSpPr txBox="1"/>
          <p:nvPr>
            <p:custDataLst>
              <p:tags r:id="rId29"/>
            </p:custDataLst>
          </p:nvPr>
        </p:nvSpPr>
        <p:spPr>
          <a:xfrm>
            <a:off x="7082098" y="4382119"/>
            <a:ext cx="1230436" cy="39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03</a:t>
            </a:r>
            <a:endParaRPr 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1" name="TextBox 31"/>
          <p:cNvSpPr txBox="1"/>
          <p:nvPr>
            <p:custDataLst>
              <p:tags r:id="rId30"/>
            </p:custDataLst>
          </p:nvPr>
        </p:nvSpPr>
        <p:spPr>
          <a:xfrm>
            <a:off x="12636485" y="4382119"/>
            <a:ext cx="1230436" cy="39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05</a:t>
            </a:r>
            <a:endParaRPr 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2" name="TextBox 32"/>
          <p:cNvSpPr txBox="1"/>
          <p:nvPr>
            <p:custDataLst>
              <p:tags r:id="rId31"/>
            </p:custDataLst>
          </p:nvPr>
        </p:nvSpPr>
        <p:spPr>
          <a:xfrm>
            <a:off x="9385649" y="4400267"/>
            <a:ext cx="1974292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Kế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 nối hai chiều với Website và Mobile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3"/>
          <p:cNvSpPr txBox="1"/>
          <p:nvPr>
            <p:custDataLst>
              <p:tags r:id="rId32"/>
            </p:custDataLst>
          </p:nvPr>
        </p:nvSpPr>
        <p:spPr>
          <a:xfrm>
            <a:off x="9485305" y="3874903"/>
            <a:ext cx="197429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AI Chatbot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4"/>
          <p:cNvSpPr txBox="1"/>
          <p:nvPr>
            <p:custDataLst>
              <p:tags r:id="rId33"/>
            </p:custDataLst>
          </p:nvPr>
        </p:nvSpPr>
        <p:spPr>
          <a:xfrm>
            <a:off x="1146466" y="6282217"/>
            <a:ext cx="1965254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Kế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 nối hai chiều với REST API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5"/>
          <p:cNvSpPr txBox="1"/>
          <p:nvPr>
            <p:custDataLst>
              <p:tags r:id="rId34"/>
            </p:custDataLst>
          </p:nvPr>
        </p:nvSpPr>
        <p:spPr>
          <a:xfrm>
            <a:off x="966626" y="5693709"/>
            <a:ext cx="24434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Website (MVC)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6"/>
          <p:cNvSpPr txBox="1"/>
          <p:nvPr>
            <p:custDataLst>
              <p:tags r:id="rId35"/>
            </p:custDataLst>
          </p:nvPr>
        </p:nvSpPr>
        <p:spPr>
          <a:xfrm>
            <a:off x="3939441" y="4527643"/>
            <a:ext cx="1974292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Kế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 nối hai chiều vớ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i REST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API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7"/>
          <p:cNvSpPr txBox="1"/>
          <p:nvPr>
            <p:custDataLst>
              <p:tags r:id="rId36"/>
            </p:custDataLst>
          </p:nvPr>
        </p:nvSpPr>
        <p:spPr>
          <a:xfrm>
            <a:off x="3763442" y="3948414"/>
            <a:ext cx="231583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Mobile (MAUI)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8"/>
          <p:cNvSpPr txBox="1"/>
          <p:nvPr>
            <p:custDataLst>
              <p:tags r:id="rId37"/>
            </p:custDataLst>
          </p:nvPr>
        </p:nvSpPr>
        <p:spPr>
          <a:xfrm>
            <a:off x="12135592" y="6210462"/>
            <a:ext cx="2268932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Trung 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gian,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hai chiều với 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Website và Mobile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9"/>
          <p:cNvSpPr txBox="1"/>
          <p:nvPr>
            <p:custDataLst>
              <p:tags r:id="rId38"/>
            </p:custDataLst>
          </p:nvPr>
        </p:nvSpPr>
        <p:spPr>
          <a:xfrm>
            <a:off x="12282912" y="5693709"/>
            <a:ext cx="197429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REST API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39826" y="1757269"/>
            <a:ext cx="10182857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vi-VN" altLang="en-US" sz="2000">
                <a:solidFill>
                  <a:srgbClr val="000000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ổng quan</a:t>
            </a:r>
            <a:r>
              <a:rPr lang="en-US" sz="2000" u="none" strike="noStrike">
                <a:solidFill>
                  <a:srgbClr val="000000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về cách các thành phần trong hệ thống của chúng tôi tương tác với nhau.</a:t>
            </a:r>
            <a:endParaRPr lang="en-US" sz="2000" u="none" strike="noStrike">
              <a:solidFill>
                <a:srgbClr val="000000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378667" y="904875"/>
            <a:ext cx="8957132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KIẾN TRÚC TỔNG THỂ CỦA HỆ THỐNG</a:t>
            </a:r>
            <a:endParaRPr lang="en-US" sz="36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42" name="Freeform 42"/>
          <p:cNvSpPr/>
          <p:nvPr>
            <p:custDataLst>
              <p:tags r:id="rId39"/>
            </p:custDataLst>
          </p:nvPr>
        </p:nvSpPr>
        <p:spPr>
          <a:xfrm>
            <a:off x="14922684" y="6339367"/>
            <a:ext cx="2439821" cy="279470"/>
          </a:xfrm>
          <a:custGeom>
            <a:avLst/>
            <a:gdLst/>
            <a:ahLst/>
            <a:cxnLst/>
            <a:rect l="l" t="t" r="r" b="b"/>
            <a:pathLst>
              <a:path w="2439821" h="279470">
                <a:moveTo>
                  <a:pt x="0" y="0"/>
                </a:moveTo>
                <a:lnTo>
                  <a:pt x="2439821" y="0"/>
                </a:lnTo>
                <a:lnTo>
                  <a:pt x="2439821" y="279471"/>
                </a:lnTo>
                <a:lnTo>
                  <a:pt x="0" y="279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>
            <p:custDataLst>
              <p:tags r:id="rId40"/>
            </p:custDataLst>
          </p:nvPr>
        </p:nvGrpSpPr>
        <p:grpSpPr>
          <a:xfrm rot="0">
            <a:off x="14922684" y="3922528"/>
            <a:ext cx="2439821" cy="2556575"/>
            <a:chOff x="0" y="0"/>
            <a:chExt cx="764074" cy="800638"/>
          </a:xfrm>
        </p:grpSpPr>
        <p:sp>
          <p:nvSpPr>
            <p:cNvPr id="44" name="Freeform 44"/>
            <p:cNvSpPr/>
            <p:nvPr>
              <p:custDataLst>
                <p:tags r:id="rId41"/>
              </p:custDataLst>
            </p:nvPr>
          </p:nvSpPr>
          <p:spPr>
            <a:xfrm>
              <a:off x="0" y="0"/>
              <a:ext cx="764074" cy="800638"/>
            </a:xfrm>
            <a:custGeom>
              <a:avLst/>
              <a:gdLst/>
              <a:ahLst/>
              <a:cxnLst/>
              <a:rect l="l" t="t" r="r" b="b"/>
              <a:pathLst>
                <a:path w="764074" h="800638">
                  <a:moveTo>
                    <a:pt x="63463" y="0"/>
                  </a:moveTo>
                  <a:lnTo>
                    <a:pt x="700611" y="0"/>
                  </a:lnTo>
                  <a:cubicBezTo>
                    <a:pt x="717442" y="0"/>
                    <a:pt x="733584" y="6686"/>
                    <a:pt x="745486" y="18588"/>
                  </a:cubicBezTo>
                  <a:cubicBezTo>
                    <a:pt x="757388" y="30490"/>
                    <a:pt x="764074" y="46632"/>
                    <a:pt x="764074" y="63463"/>
                  </a:cubicBezTo>
                  <a:lnTo>
                    <a:pt x="764074" y="737174"/>
                  </a:lnTo>
                  <a:cubicBezTo>
                    <a:pt x="764074" y="772224"/>
                    <a:pt x="735660" y="800638"/>
                    <a:pt x="700611" y="800638"/>
                  </a:cubicBezTo>
                  <a:lnTo>
                    <a:pt x="63463" y="800638"/>
                  </a:lnTo>
                  <a:cubicBezTo>
                    <a:pt x="28413" y="800638"/>
                    <a:pt x="0" y="772224"/>
                    <a:pt x="0" y="737174"/>
                  </a:cubicBezTo>
                  <a:lnTo>
                    <a:pt x="0" y="63463"/>
                  </a:lnTo>
                  <a:cubicBezTo>
                    <a:pt x="0" y="28413"/>
                    <a:pt x="28413" y="0"/>
                    <a:pt x="63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764074" cy="848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" name="Freeform 46"/>
          <p:cNvSpPr/>
          <p:nvPr>
            <p:custDataLst>
              <p:tags r:id="rId42"/>
            </p:custDataLst>
          </p:nvPr>
        </p:nvSpPr>
        <p:spPr>
          <a:xfrm>
            <a:off x="14806686" y="2464163"/>
            <a:ext cx="2671816" cy="1707907"/>
          </a:xfrm>
          <a:custGeom>
            <a:avLst/>
            <a:gdLst/>
            <a:ahLst/>
            <a:cxnLst/>
            <a:rect l="l" t="t" r="r" b="b"/>
            <a:pathLst>
              <a:path w="2671816" h="1707907">
                <a:moveTo>
                  <a:pt x="0" y="0"/>
                </a:moveTo>
                <a:lnTo>
                  <a:pt x="2671816" y="0"/>
                </a:lnTo>
                <a:lnTo>
                  <a:pt x="2671816" y="1707907"/>
                </a:lnTo>
                <a:lnTo>
                  <a:pt x="0" y="1707907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>
            <p:custDataLst>
              <p:tags r:id="rId45"/>
            </p:custDataLst>
          </p:nvPr>
        </p:nvSpPr>
        <p:spPr>
          <a:xfrm>
            <a:off x="14940036" y="4527643"/>
            <a:ext cx="232682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vi-VN" alt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Xử lý ảnh và trích xuất dữ liệu cho Website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8"/>
          <p:cNvSpPr txBox="1"/>
          <p:nvPr>
            <p:custDataLst>
              <p:tags r:id="rId46"/>
            </p:custDataLst>
          </p:nvPr>
        </p:nvSpPr>
        <p:spPr>
          <a:xfrm>
            <a:off x="14922684" y="3931982"/>
            <a:ext cx="243159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OCR + OpenCV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9"/>
          <p:cNvSpPr txBox="1"/>
          <p:nvPr>
            <p:custDataLst>
              <p:tags r:id="rId47"/>
            </p:custDataLst>
          </p:nvPr>
        </p:nvSpPr>
        <p:spPr>
          <a:xfrm>
            <a:off x="15527376" y="2651192"/>
            <a:ext cx="12304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5"/>
              </a:lnSpc>
              <a:spcBef>
                <a:spcPct val="0"/>
              </a:spcBef>
            </a:pPr>
            <a:r>
              <a:rPr 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</a:t>
            </a:r>
            <a:r>
              <a:rPr lang="vi-VN" altLang="en-US" sz="2355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6</a:t>
            </a:r>
            <a:endParaRPr lang="vi-VN" altLang="en-US" sz="2355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50" name="TextBox 50"/>
          <p:cNvSpPr txBox="1"/>
          <p:nvPr>
            <p:custDataLst>
              <p:tags r:id="rId48"/>
            </p:custDataLst>
          </p:nvPr>
        </p:nvSpPr>
        <p:spPr>
          <a:xfrm>
            <a:off x="6656441" y="6282217"/>
            <a:ext cx="1974292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Kế</a:t>
            </a:r>
            <a:r>
              <a:rPr lang="en-US" sz="2600" u="none" strike="noStrike">
                <a:solidFill>
                  <a:srgbClr val="0071B6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 nối hai chiều với REST API</a:t>
            </a:r>
            <a:endParaRPr lang="en-US" sz="2600" u="none" strike="noStrike">
              <a:solidFill>
                <a:srgbClr val="0071B6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1"/>
          <p:cNvSpPr txBox="1"/>
          <p:nvPr>
            <p:custDataLst>
              <p:tags r:id="rId49"/>
            </p:custDataLst>
          </p:nvPr>
        </p:nvSpPr>
        <p:spPr>
          <a:xfrm>
            <a:off x="6735672" y="5693709"/>
            <a:ext cx="1974292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SQL Server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Freeform 52"/>
          <p:cNvSpPr/>
          <p:nvPr/>
        </p:nvSpPr>
        <p:spPr>
          <a:xfrm rot="2321539">
            <a:off x="-7113446" y="-5212430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5" y="0"/>
                </a:lnTo>
                <a:lnTo>
                  <a:pt x="10046825" y="10046826"/>
                </a:lnTo>
                <a:lnTo>
                  <a:pt x="0" y="10046826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rot="1901019">
            <a:off x="-7500887" y="7607952"/>
            <a:ext cx="12396990" cy="5071496"/>
          </a:xfrm>
          <a:custGeom>
            <a:avLst/>
            <a:gdLst/>
            <a:ahLst/>
            <a:cxnLst/>
            <a:rect l="l" t="t" r="r" b="b"/>
            <a:pathLst>
              <a:path w="12396990" h="5071496">
                <a:moveTo>
                  <a:pt x="0" y="0"/>
                </a:moveTo>
                <a:lnTo>
                  <a:pt x="12396990" y="0"/>
                </a:lnTo>
                <a:lnTo>
                  <a:pt x="12396990" y="5071495"/>
                </a:lnTo>
                <a:lnTo>
                  <a:pt x="0" y="5071495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rot="-93147">
            <a:off x="-3780038" y="6844577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2" y="0"/>
                </a:lnTo>
                <a:lnTo>
                  <a:pt x="15248942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 rot="9348197">
            <a:off x="11451718" y="8371948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1" y="0"/>
                </a:lnTo>
                <a:lnTo>
                  <a:pt x="9121961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579319" y="4675765"/>
            <a:ext cx="4391415" cy="2101590"/>
            <a:chOff x="0" y="0"/>
            <a:chExt cx="1498936" cy="7173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9039225"/>
            <a:ext cx="16230600" cy="0"/>
          </a:xfrm>
          <a:prstGeom prst="line">
            <a:avLst/>
          </a:prstGeom>
          <a:ln w="57150" cap="flat">
            <a:solidFill>
              <a:srgbClr val="C1C7D0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1406677" y="8782050"/>
            <a:ext cx="429756" cy="476250"/>
            <a:chOff x="0" y="0"/>
            <a:chExt cx="73345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02B1E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929581" y="4675765"/>
            <a:ext cx="4391415" cy="2101590"/>
            <a:chOff x="0" y="0"/>
            <a:chExt cx="1498936" cy="7173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3912883" y="8782050"/>
            <a:ext cx="429756" cy="476250"/>
            <a:chOff x="0" y="0"/>
            <a:chExt cx="73345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4993E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4438480" y="4675765"/>
            <a:ext cx="4391415" cy="2101590"/>
            <a:chOff x="0" y="0"/>
            <a:chExt cx="1498936" cy="7173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6419090" y="8782050"/>
            <a:ext cx="429756" cy="476250"/>
            <a:chOff x="0" y="0"/>
            <a:chExt cx="73345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0E86D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6947380" y="4675765"/>
            <a:ext cx="4391415" cy="2101590"/>
            <a:chOff x="0" y="0"/>
            <a:chExt cx="1498936" cy="7173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8930683" y="8782050"/>
            <a:ext cx="429756" cy="476250"/>
            <a:chOff x="0" y="0"/>
            <a:chExt cx="73345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146FCA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9456280" y="4675765"/>
            <a:ext cx="4391415" cy="2101590"/>
            <a:chOff x="0" y="0"/>
            <a:chExt cx="1498936" cy="7173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11436889" y="8782050"/>
            <a:ext cx="429756" cy="476250"/>
            <a:chOff x="0" y="0"/>
            <a:chExt cx="73345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11965180" y="4675765"/>
            <a:ext cx="4391415" cy="2101590"/>
            <a:chOff x="0" y="0"/>
            <a:chExt cx="1498936" cy="7173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3945789" y="8782050"/>
            <a:ext cx="429756" cy="476250"/>
            <a:chOff x="0" y="0"/>
            <a:chExt cx="73345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14476345" y="4675765"/>
            <a:ext cx="4391415" cy="2101590"/>
            <a:chOff x="0" y="0"/>
            <a:chExt cx="1498936" cy="71734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98937" cy="717343"/>
            </a:xfrm>
            <a:custGeom>
              <a:avLst/>
              <a:gdLst/>
              <a:ahLst/>
              <a:cxnLst/>
              <a:rect l="l" t="t" r="r" b="b"/>
              <a:pathLst>
                <a:path w="1498937" h="717343">
                  <a:moveTo>
                    <a:pt x="1295737" y="0"/>
                  </a:moveTo>
                  <a:lnTo>
                    <a:pt x="0" y="0"/>
                  </a:lnTo>
                  <a:lnTo>
                    <a:pt x="0" y="717343"/>
                  </a:lnTo>
                  <a:lnTo>
                    <a:pt x="1295737" y="717343"/>
                  </a:lnTo>
                  <a:lnTo>
                    <a:pt x="1498937" y="358671"/>
                  </a:lnTo>
                  <a:lnTo>
                    <a:pt x="129573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1384636" cy="745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0">
            <a:off x="16456954" y="8782050"/>
            <a:ext cx="429756" cy="476250"/>
            <a:chOff x="0" y="0"/>
            <a:chExt cx="73345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3450" cy="812800"/>
            </a:xfrm>
            <a:custGeom>
              <a:avLst/>
              <a:gdLst/>
              <a:ahLst/>
              <a:cxnLst/>
              <a:rect l="l" t="t" r="r" b="b"/>
              <a:pathLst>
                <a:path w="733450" h="812800">
                  <a:moveTo>
                    <a:pt x="366725" y="0"/>
                  </a:moveTo>
                  <a:cubicBezTo>
                    <a:pt x="164188" y="0"/>
                    <a:pt x="0" y="181951"/>
                    <a:pt x="0" y="406400"/>
                  </a:cubicBezTo>
                  <a:cubicBezTo>
                    <a:pt x="0" y="630849"/>
                    <a:pt x="164188" y="812800"/>
                    <a:pt x="366725" y="812800"/>
                  </a:cubicBezTo>
                  <a:cubicBezTo>
                    <a:pt x="569262" y="812800"/>
                    <a:pt x="733450" y="630849"/>
                    <a:pt x="733450" y="406400"/>
                  </a:cubicBezTo>
                  <a:cubicBezTo>
                    <a:pt x="733450" y="181951"/>
                    <a:pt x="569262" y="0"/>
                    <a:pt x="366725" y="0"/>
                  </a:cubicBezTo>
                  <a:close/>
                </a:path>
              </a:pathLst>
            </a:custGeom>
            <a:solidFill>
              <a:srgbClr val="00306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68761" y="47625"/>
              <a:ext cx="595929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Freeform 45"/>
          <p:cNvSpPr/>
          <p:nvPr/>
        </p:nvSpPr>
        <p:spPr>
          <a:xfrm>
            <a:off x="3174783" y="2476733"/>
            <a:ext cx="1815520" cy="1798864"/>
          </a:xfrm>
          <a:custGeom>
            <a:avLst/>
            <a:gdLst/>
            <a:ahLst/>
            <a:cxnLst/>
            <a:rect l="l" t="t" r="r" b="b"/>
            <a:pathLst>
              <a:path w="1815520" h="1798864">
                <a:moveTo>
                  <a:pt x="0" y="0"/>
                </a:moveTo>
                <a:lnTo>
                  <a:pt x="1815520" y="0"/>
                </a:lnTo>
                <a:lnTo>
                  <a:pt x="1815520" y="1798864"/>
                </a:lnTo>
                <a:lnTo>
                  <a:pt x="0" y="179886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5690433" y="2364732"/>
            <a:ext cx="1735110" cy="1735110"/>
          </a:xfrm>
          <a:custGeom>
            <a:avLst/>
            <a:gdLst/>
            <a:ahLst/>
            <a:cxnLst/>
            <a:rect l="l" t="t" r="r" b="b"/>
            <a:pathLst>
              <a:path w="1735110" h="1735110">
                <a:moveTo>
                  <a:pt x="0" y="0"/>
                </a:moveTo>
                <a:lnTo>
                  <a:pt x="1735110" y="0"/>
                </a:lnTo>
                <a:lnTo>
                  <a:pt x="1735110" y="1735110"/>
                </a:lnTo>
                <a:lnTo>
                  <a:pt x="0" y="173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8265656" y="2389776"/>
            <a:ext cx="1757129" cy="1757129"/>
          </a:xfrm>
          <a:custGeom>
            <a:avLst/>
            <a:gdLst/>
            <a:ahLst/>
            <a:cxnLst/>
            <a:rect l="l" t="t" r="r" b="b"/>
            <a:pathLst>
              <a:path w="1757129" h="1757129">
                <a:moveTo>
                  <a:pt x="0" y="0"/>
                </a:moveTo>
                <a:lnTo>
                  <a:pt x="1757129" y="0"/>
                </a:lnTo>
                <a:lnTo>
                  <a:pt x="1757129" y="1757129"/>
                </a:lnTo>
                <a:lnTo>
                  <a:pt x="0" y="1757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0784433" y="2384993"/>
            <a:ext cx="1767365" cy="1783730"/>
          </a:xfrm>
          <a:custGeom>
            <a:avLst/>
            <a:gdLst/>
            <a:ahLst/>
            <a:cxnLst/>
            <a:rect l="l" t="t" r="r" b="b"/>
            <a:pathLst>
              <a:path w="1767365" h="1783730">
                <a:moveTo>
                  <a:pt x="0" y="0"/>
                </a:moveTo>
                <a:lnTo>
                  <a:pt x="1767365" y="0"/>
                </a:lnTo>
                <a:lnTo>
                  <a:pt x="1767365" y="1783730"/>
                </a:lnTo>
                <a:lnTo>
                  <a:pt x="0" y="1783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3245708" y="2393548"/>
            <a:ext cx="1753357" cy="1753357"/>
          </a:xfrm>
          <a:custGeom>
            <a:avLst/>
            <a:gdLst/>
            <a:ahLst/>
            <a:cxnLst/>
            <a:rect l="l" t="t" r="r" b="b"/>
            <a:pathLst>
              <a:path w="1753357" h="1753357">
                <a:moveTo>
                  <a:pt x="0" y="0"/>
                </a:moveTo>
                <a:lnTo>
                  <a:pt x="1753356" y="0"/>
                </a:lnTo>
                <a:lnTo>
                  <a:pt x="1753356" y="1753357"/>
                </a:lnTo>
                <a:lnTo>
                  <a:pt x="0" y="1753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794873" y="2393548"/>
            <a:ext cx="1754359" cy="1754359"/>
          </a:xfrm>
          <a:custGeom>
            <a:avLst/>
            <a:gdLst/>
            <a:ahLst/>
            <a:cxnLst/>
            <a:rect l="l" t="t" r="r" b="b"/>
            <a:pathLst>
              <a:path w="1754359" h="1754359">
                <a:moveTo>
                  <a:pt x="0" y="0"/>
                </a:moveTo>
                <a:lnTo>
                  <a:pt x="1754359" y="0"/>
                </a:lnTo>
                <a:lnTo>
                  <a:pt x="1754359" y="1754359"/>
                </a:lnTo>
                <a:lnTo>
                  <a:pt x="0" y="175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751184" y="2389776"/>
            <a:ext cx="1780384" cy="1780384"/>
          </a:xfrm>
          <a:custGeom>
            <a:avLst/>
            <a:gdLst/>
            <a:ahLst/>
            <a:cxnLst/>
            <a:rect l="l" t="t" r="r" b="b"/>
            <a:pathLst>
              <a:path w="1780384" h="1780384">
                <a:moveTo>
                  <a:pt x="0" y="0"/>
                </a:moveTo>
                <a:lnTo>
                  <a:pt x="1780384" y="0"/>
                </a:lnTo>
                <a:lnTo>
                  <a:pt x="1780384" y="1780384"/>
                </a:lnTo>
                <a:lnTo>
                  <a:pt x="0" y="17803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028700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2B1E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01</a:t>
            </a:r>
            <a:endParaRPr lang="en-US" sz="3200" b="1">
              <a:solidFill>
                <a:srgbClr val="02B1EE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537600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4993E9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02</a:t>
            </a:r>
            <a:endParaRPr lang="en-US" sz="3200" b="1">
              <a:solidFill>
                <a:srgbClr val="4993E9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6046500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E86D4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03</a:t>
            </a:r>
            <a:endParaRPr lang="en-US" sz="3200" b="1">
              <a:solidFill>
                <a:srgbClr val="0E86D4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523858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146FCA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04</a:t>
            </a:r>
            <a:endParaRPr lang="en-US" sz="3200" b="1">
              <a:solidFill>
                <a:srgbClr val="146FCA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032758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569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05</a:t>
            </a:r>
            <a:endParaRPr lang="en-US" sz="3200" b="1">
              <a:solidFill>
                <a:srgbClr val="00569E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3541658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569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06</a:t>
            </a:r>
            <a:endParaRPr lang="en-US" sz="3200" b="1">
              <a:solidFill>
                <a:srgbClr val="00569E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6052823" y="8084193"/>
            <a:ext cx="119422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569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07</a:t>
            </a:r>
            <a:endParaRPr lang="en-US" sz="3200" b="1">
              <a:solidFill>
                <a:srgbClr val="00569E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583393" y="621022"/>
            <a:ext cx="7421085" cy="70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CÁC CÔNG NGHỆ SỬ DỤNG</a:t>
            </a:r>
            <a:endParaRPr lang="en-US" sz="41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565594" y="4404470"/>
            <a:ext cx="210159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Backend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09600" y="5252720"/>
            <a:ext cx="2078355" cy="394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ASP.NET MVC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422012" y="5664945"/>
            <a:ext cx="2369463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Mô hình MVC (Model – View – Controller)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367759" y="4476225"/>
            <a:ext cx="155840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Frontend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303481" y="5252830"/>
            <a:ext cx="1686964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Razor View kết hợp HTML, CSS và JavaScript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5880933" y="4476225"/>
            <a:ext cx="160924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Database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926355" y="5133450"/>
            <a:ext cx="1415226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SQL Server để lưu trữ và quản lý dữ liệu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8637483" y="4403066"/>
            <a:ext cx="117729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Mobile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8143529" y="5038323"/>
            <a:ext cx="2004504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.NET MAUI cho phép xây dựng ứng dụng đa nền tảng với một mã nguồn thống nhất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1511226" y="4417724"/>
            <a:ext cx="35564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AI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0758254" y="5133450"/>
            <a:ext cx="1819723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Gemini AI  hỗ trợ phân tích và xử lý dữ liệu thông minh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3181587" y="4382647"/>
            <a:ext cx="1881598" cy="73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5"/>
              </a:lnSpc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Tesseract + OpenCV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621258" y="4457958"/>
            <a:ext cx="224785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Thống kê </a:t>
            </a:r>
            <a:endParaRPr lang="en-US" sz="28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13264758" y="5258863"/>
            <a:ext cx="1859187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</a:t>
            </a: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iền xử lý hình ảnh và trích xuất văn bản từ hóa đơn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5689346" y="5082650"/>
            <a:ext cx="1965414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Chart.js và Recharts để trực quan hóa dữ liệu thống kê</a:t>
            </a:r>
            <a:endParaRPr lang="en-US" sz="22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75" name="Freeform 75"/>
          <p:cNvSpPr/>
          <p:nvPr/>
        </p:nvSpPr>
        <p:spPr>
          <a:xfrm rot="2321539">
            <a:off x="-8716825" y="-5256319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5" y="0"/>
                </a:lnTo>
                <a:lnTo>
                  <a:pt x="10046825" y="10046826"/>
                </a:lnTo>
                <a:lnTo>
                  <a:pt x="0" y="1004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 rot="-92284">
            <a:off x="-4571662" y="6687368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77"/>
          <p:cNvSpPr/>
          <p:nvPr/>
        </p:nvSpPr>
        <p:spPr>
          <a:xfrm rot="9930341">
            <a:off x="11382487" y="894903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1" y="0"/>
                </a:lnTo>
                <a:lnTo>
                  <a:pt x="9121961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78"/>
          <p:cNvSpPr/>
          <p:nvPr/>
        </p:nvSpPr>
        <p:spPr>
          <a:xfrm rot="2298143" flipV="1">
            <a:off x="12869207" y="-699208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3731711"/>
                </a:moveTo>
                <a:lnTo>
                  <a:pt x="9121962" y="3731711"/>
                </a:lnTo>
                <a:lnTo>
                  <a:pt x="9121962" y="0"/>
                </a:lnTo>
                <a:lnTo>
                  <a:pt x="0" y="0"/>
                </a:lnTo>
                <a:lnTo>
                  <a:pt x="0" y="373171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567035">
            <a:off x="-4157216" y="52374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3147">
            <a:off x="-3390005" y="6868954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158712">
            <a:off x="12190655" y="8122201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1578386" y="677447"/>
            <a:ext cx="5799638" cy="1614426"/>
            <a:chOff x="0" y="0"/>
            <a:chExt cx="1527477" cy="4251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6480963" y="954766"/>
            <a:ext cx="1605216" cy="1059788"/>
            <a:chOff x="0" y="0"/>
            <a:chExt cx="823551" cy="543720"/>
          </a:xfrm>
        </p:grpSpPr>
        <p:sp>
          <p:nvSpPr>
            <p:cNvPr id="9" name="Freeform 9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64384" y="1106841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01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41559" y="819229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Quản lý sản phẩm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10089" y="1411620"/>
            <a:ext cx="4335221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Thê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m, sửa, xóa, tìm kiếm và phân loại sản phẩm.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4"/>
          <p:cNvSpPr/>
          <p:nvPr/>
        </p:nvSpPr>
        <p:spPr>
          <a:xfrm rot="4052134">
            <a:off x="13727019" y="-32800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10800000">
            <a:off x="11187454" y="677447"/>
            <a:ext cx="5799638" cy="1614426"/>
            <a:chOff x="0" y="0"/>
            <a:chExt cx="1527477" cy="4251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0479299" y="954766"/>
            <a:ext cx="1605216" cy="1059788"/>
            <a:chOff x="0" y="0"/>
            <a:chExt cx="823551" cy="543720"/>
          </a:xfrm>
        </p:grpSpPr>
        <p:sp>
          <p:nvSpPr>
            <p:cNvPr id="19" name="Freeform 19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857970" y="1106841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530"/>
              </a:lnSpc>
            </a:pPr>
            <a:r>
              <a:rPr lang="en-US" sz="3950" b="1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05</a:t>
            </a:r>
            <a:endParaRPr lang="en-US" sz="3950" b="1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303936" y="741836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AI Chatbot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303936" y="1240887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Giải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 đáp thắc mắc và hướng dẫn sử dụng hệ thống.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596266" y="2978125"/>
            <a:ext cx="5799638" cy="1614426"/>
            <a:chOff x="0" y="0"/>
            <a:chExt cx="1527477" cy="4251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5498843" y="3255444"/>
            <a:ext cx="1605216" cy="1059788"/>
            <a:chOff x="0" y="0"/>
            <a:chExt cx="823551" cy="543720"/>
          </a:xfrm>
        </p:grpSpPr>
        <p:sp>
          <p:nvSpPr>
            <p:cNvPr id="28" name="Freeform 28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82264" y="3407520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02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59439" y="3063028"/>
            <a:ext cx="4185816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Nhập kho / </a:t>
            </a:r>
            <a:r>
              <a:rPr lang="vi-VN" alt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Xuất </a:t>
            </a:r>
            <a:r>
              <a:rPr lang="vi-VN" alt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kho</a:t>
            </a:r>
            <a:endParaRPr lang="vi-VN" alt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62676" y="3606973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Gh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i nhận chi tiết các giao dịch nhập và xuất hàng.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3"/>
          <p:cNvGrpSpPr/>
          <p:nvPr/>
        </p:nvGrpSpPr>
        <p:grpSpPr>
          <a:xfrm rot="-10800000">
            <a:off x="12172796" y="2978125"/>
            <a:ext cx="5799638" cy="1614426"/>
            <a:chOff x="0" y="0"/>
            <a:chExt cx="1527477" cy="4251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-10800000">
            <a:off x="11464642" y="3255444"/>
            <a:ext cx="1605216" cy="1059788"/>
            <a:chOff x="0" y="0"/>
            <a:chExt cx="823551" cy="543720"/>
          </a:xfrm>
        </p:grpSpPr>
        <p:sp>
          <p:nvSpPr>
            <p:cNvPr id="37" name="Freeform 37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843313" y="3407520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06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289279" y="3063028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Quét mã vạch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289279" y="3562079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Tă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ng tốc quá trình nhập và xuất hàng.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2"/>
          <p:cNvGrpSpPr/>
          <p:nvPr/>
        </p:nvGrpSpPr>
        <p:grpSpPr>
          <a:xfrm rot="0">
            <a:off x="596266" y="5278804"/>
            <a:ext cx="5799638" cy="1614426"/>
            <a:chOff x="0" y="0"/>
            <a:chExt cx="1527477" cy="42519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 rot="0">
            <a:off x="5498843" y="5556123"/>
            <a:ext cx="1605216" cy="1059788"/>
            <a:chOff x="0" y="0"/>
            <a:chExt cx="823551" cy="543720"/>
          </a:xfrm>
        </p:grpSpPr>
        <p:sp>
          <p:nvSpPr>
            <p:cNvPr id="46" name="Freeform 46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782264" y="5708199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03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59439" y="5363706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Kiểm kê &amp; tồn kho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59439" y="5862757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Cậ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p nhật số liệu tồn kho theo thời gian thực.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Group 51"/>
          <p:cNvGrpSpPr/>
          <p:nvPr/>
        </p:nvGrpSpPr>
        <p:grpSpPr>
          <a:xfrm rot="-10800000">
            <a:off x="12172796" y="5278804"/>
            <a:ext cx="5799638" cy="1614426"/>
            <a:chOff x="0" y="0"/>
            <a:chExt cx="1527477" cy="42519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-10800000">
            <a:off x="11464642" y="5556123"/>
            <a:ext cx="1605216" cy="1059788"/>
            <a:chOff x="0" y="0"/>
            <a:chExt cx="823551" cy="543720"/>
          </a:xfrm>
        </p:grpSpPr>
        <p:sp>
          <p:nvSpPr>
            <p:cNvPr id="55" name="Freeform 55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843313" y="5708199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07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3289279" y="5363706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AI nhập liệu hóa đơn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3289279" y="5862757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Tự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 động trích xuất thông tin từ hóa đơn.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60"/>
          <p:cNvGrpSpPr/>
          <p:nvPr/>
        </p:nvGrpSpPr>
        <p:grpSpPr>
          <a:xfrm rot="0">
            <a:off x="1578386" y="7579482"/>
            <a:ext cx="5799638" cy="1614426"/>
            <a:chOff x="0" y="0"/>
            <a:chExt cx="1527477" cy="4251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 rot="0">
            <a:off x="6480963" y="7856802"/>
            <a:ext cx="1605216" cy="1059788"/>
            <a:chOff x="0" y="0"/>
            <a:chExt cx="823551" cy="543720"/>
          </a:xfrm>
        </p:grpSpPr>
        <p:sp>
          <p:nvSpPr>
            <p:cNvPr id="64" name="Freeform 64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6764384" y="8008877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04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2141559" y="7686648"/>
            <a:ext cx="4185816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vi-VN" alt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B</a:t>
            </a: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áo cáo</a:t>
            </a:r>
            <a:r>
              <a:rPr lang="vi-VN" alt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 / Thống </a:t>
            </a:r>
            <a:r>
              <a:rPr lang="vi-VN" alt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kê</a:t>
            </a:r>
            <a:endParaRPr lang="vi-VN" alt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141559" y="8185699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Cậ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p nhật số liệu tồn kho theo thời gian thực.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Group 69"/>
          <p:cNvGrpSpPr/>
          <p:nvPr/>
        </p:nvGrpSpPr>
        <p:grpSpPr>
          <a:xfrm rot="-10800000">
            <a:off x="11187454" y="7579482"/>
            <a:ext cx="5799638" cy="1614426"/>
            <a:chOff x="0" y="0"/>
            <a:chExt cx="1527477" cy="42519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27477" cy="425199"/>
            </a:xfrm>
            <a:custGeom>
              <a:avLst/>
              <a:gdLst/>
              <a:ahLst/>
              <a:cxnLst/>
              <a:rect l="l" t="t" r="r" b="b"/>
              <a:pathLst>
                <a:path w="1527477" h="425199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 rot="-10800000">
            <a:off x="10479299" y="7856802"/>
            <a:ext cx="1605216" cy="1059788"/>
            <a:chOff x="0" y="0"/>
            <a:chExt cx="823551" cy="543720"/>
          </a:xfrm>
        </p:grpSpPr>
        <p:sp>
          <p:nvSpPr>
            <p:cNvPr id="73" name="Freeform 73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0857970" y="8008877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530"/>
              </a:lnSpc>
              <a:spcBef>
                <a:spcPct val="0"/>
              </a:spcBef>
            </a:pPr>
            <a:r>
              <a:rPr lang="en-US" sz="3950" b="1" u="none" strike="noStrike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08</a:t>
            </a:r>
            <a:endParaRPr lang="en-US" sz="3950" b="1" u="none" strike="noStrike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2303936" y="7686648"/>
            <a:ext cx="4185816" cy="47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Cảnh báo</a:t>
            </a:r>
            <a:endParaRPr lang="en-US" sz="2800" b="1">
              <a:solidFill>
                <a:srgbClr val="004AAD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12303936" y="8185699"/>
            <a:ext cx="4185816" cy="114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Thông</a:t>
            </a:r>
            <a:r>
              <a:rPr lang="en-US" sz="2100">
                <a:solidFill>
                  <a:srgbClr val="1C1C1A"/>
                </a:solidFill>
                <a:latin typeface="Arial" panose="020B0604020202020204" pitchFamily="34" charset="0"/>
                <a:ea typeface="Montserrat" panose="00000500000000000000"/>
                <a:cs typeface="Arial" panose="020B0604020202020204" pitchFamily="34" charset="0"/>
                <a:sym typeface="Montserrat" panose="00000500000000000000"/>
              </a:rPr>
              <a:t> báo khi hàng sắp hết hoặc hết hạn sử dụng.</a:t>
            </a:r>
            <a:endParaRPr lang="en-US" sz="2100">
              <a:solidFill>
                <a:srgbClr val="1C1C1A"/>
              </a:solidFill>
              <a:latin typeface="Arial" panose="020B0604020202020204" pitchFamily="34" charset="0"/>
              <a:ea typeface="Montserrat" panose="00000500000000000000"/>
              <a:cs typeface="Arial" panose="020B0604020202020204" pitchFamily="34" charset="0"/>
              <a:sym typeface="Montserrat" panose="00000500000000000000"/>
            </a:endParaRPr>
          </a:p>
          <a:p>
            <a:pPr marL="0" lvl="0" indent="0" algn="l">
              <a:lnSpc>
                <a:spcPts val="315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8"/>
          <p:cNvGrpSpPr/>
          <p:nvPr/>
        </p:nvGrpSpPr>
        <p:grpSpPr>
          <a:xfrm rot="0">
            <a:off x="7357404" y="3070281"/>
            <a:ext cx="3841146" cy="3841146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8D9193"/>
              </a:solidFill>
              <a:prstDash val="sysDot"/>
              <a:round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5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 rot="0">
            <a:off x="8368642" y="3051881"/>
            <a:ext cx="381000" cy="381000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 rot="0">
            <a:off x="9916642" y="3051881"/>
            <a:ext cx="381000" cy="381000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 rot="0">
            <a:off x="8368642" y="6559002"/>
            <a:ext cx="381000" cy="381000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0">
            <a:off x="7378024" y="5693886"/>
            <a:ext cx="381000" cy="381000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 rot="0">
            <a:off x="10744414" y="5693886"/>
            <a:ext cx="381000" cy="381000"/>
            <a:chOff x="0" y="0"/>
            <a:chExt cx="812800" cy="8128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0">
            <a:off x="7357404" y="4019406"/>
            <a:ext cx="381000" cy="381000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 rot="0">
            <a:off x="10744414" y="3965695"/>
            <a:ext cx="381000" cy="381000"/>
            <a:chOff x="0" y="0"/>
            <a:chExt cx="812800" cy="8128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 rot="0">
            <a:off x="9843649" y="6559002"/>
            <a:ext cx="381000" cy="381000"/>
            <a:chOff x="0" y="0"/>
            <a:chExt cx="812800" cy="8128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7732709" y="4162832"/>
            <a:ext cx="3202205" cy="140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05"/>
              </a:lnSpc>
            </a:pPr>
            <a:r>
              <a:rPr lang="en-US" sz="3500" b="1">
                <a:solidFill>
                  <a:srgbClr val="00569E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CÁC CHỨC NĂNG CHÍNH </a:t>
            </a:r>
            <a:endParaRPr lang="en-US" sz="3500" b="1">
              <a:solidFill>
                <a:srgbClr val="00569E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200" y="1257464"/>
            <a:ext cx="15637452" cy="81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50"/>
              </a:lnSpc>
              <a:spcBef>
                <a:spcPct val="0"/>
              </a:spcBef>
            </a:pPr>
            <a:r>
              <a:rPr lang="en-US" sz="5000" b="1">
                <a:solidFill>
                  <a:srgbClr val="00569E"/>
                </a:solidFill>
                <a:latin typeface="Arial" panose="020B0604020202020204" pitchFamily="34" charset="0"/>
                <a:ea typeface="Akzidenz-Grotesk Heavy" panose="02000503050000020004"/>
                <a:cs typeface="Arial" panose="020B0604020202020204" pitchFamily="34" charset="0"/>
                <a:sym typeface="Akzidenz-Grotesk Heavy" panose="02000503050000020004"/>
              </a:rPr>
              <a:t>PHƯƠNG PHÁP QUẢN LÝ KHO VÀ MÔ HÌNH AI</a:t>
            </a:r>
            <a:endParaRPr lang="en-US" sz="5000" b="1">
              <a:solidFill>
                <a:srgbClr val="00569E"/>
              </a:solidFill>
              <a:latin typeface="Arial" panose="020B0604020202020204" pitchFamily="34" charset="0"/>
              <a:ea typeface="Akzidenz-Grotesk Heavy" panose="02000503050000020004"/>
              <a:cs typeface="Arial" panose="020B0604020202020204" pitchFamily="34" charset="0"/>
              <a:sym typeface="Akzidenz-Grotesk Heavy" panose="020005030500000200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05000" y="2580005"/>
            <a:ext cx="13994130" cy="9855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Quản lý theo mã sản phẩm – lô hàng, áp dụng nguyên tắc FIFO (Nhập trước – Xuất trước), sử dụng mã vạch (Barcode) trong nhập – xuất kho.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9601200" y="4029075"/>
            <a:ext cx="5935980" cy="4483100"/>
            <a:chOff x="0" y="0"/>
            <a:chExt cx="1563433" cy="12160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3433" cy="1216094"/>
            </a:xfrm>
            <a:custGeom>
              <a:avLst/>
              <a:gdLst/>
              <a:ahLst/>
              <a:cxnLst/>
              <a:rect l="l" t="t" r="r" b="b"/>
              <a:pathLst>
                <a:path w="1563433" h="1216094">
                  <a:moveTo>
                    <a:pt x="14346" y="0"/>
                  </a:moveTo>
                  <a:lnTo>
                    <a:pt x="1549087" y="0"/>
                  </a:lnTo>
                  <a:cubicBezTo>
                    <a:pt x="1552891" y="0"/>
                    <a:pt x="1556540" y="1511"/>
                    <a:pt x="1559231" y="4202"/>
                  </a:cubicBezTo>
                  <a:cubicBezTo>
                    <a:pt x="1561921" y="6892"/>
                    <a:pt x="1563433" y="10541"/>
                    <a:pt x="1563433" y="14346"/>
                  </a:cubicBezTo>
                  <a:lnTo>
                    <a:pt x="1563433" y="1201748"/>
                  </a:lnTo>
                  <a:cubicBezTo>
                    <a:pt x="1563433" y="1205553"/>
                    <a:pt x="1561921" y="1209202"/>
                    <a:pt x="1559231" y="1211892"/>
                  </a:cubicBezTo>
                  <a:cubicBezTo>
                    <a:pt x="1556540" y="1214583"/>
                    <a:pt x="1552891" y="1216094"/>
                    <a:pt x="1549087" y="1216094"/>
                  </a:cubicBezTo>
                  <a:lnTo>
                    <a:pt x="14346" y="1216094"/>
                  </a:lnTo>
                  <a:cubicBezTo>
                    <a:pt x="10541" y="1216094"/>
                    <a:pt x="6892" y="1214583"/>
                    <a:pt x="4202" y="1211892"/>
                  </a:cubicBezTo>
                  <a:cubicBezTo>
                    <a:pt x="1511" y="1209202"/>
                    <a:pt x="0" y="1205553"/>
                    <a:pt x="0" y="1201748"/>
                  </a:cubicBezTo>
                  <a:lnTo>
                    <a:pt x="0" y="14346"/>
                  </a:lnTo>
                  <a:cubicBezTo>
                    <a:pt x="0" y="10541"/>
                    <a:pt x="1511" y="6892"/>
                    <a:pt x="4202" y="4202"/>
                  </a:cubicBezTo>
                  <a:cubicBezTo>
                    <a:pt x="6892" y="1511"/>
                    <a:pt x="10541" y="0"/>
                    <a:pt x="143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395E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63433" cy="1263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9750827" y="4263274"/>
            <a:ext cx="867971" cy="86797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C8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881394" y="4308320"/>
            <a:ext cx="628136" cy="65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40"/>
              </a:lnSpc>
              <a:spcBef>
                <a:spcPct val="0"/>
              </a:spcBef>
            </a:pPr>
            <a:r>
              <a:rPr lang="en-US" sz="3525" b="1">
                <a:solidFill>
                  <a:srgbClr val="FFFFFF"/>
                </a:solidFill>
                <a:latin typeface="Arial" panose="020B0604020202020204" pitchFamily="34" charset="0"/>
                <a:ea typeface="Open Sans 1 Bold"/>
                <a:cs typeface="Arial" panose="020B0604020202020204" pitchFamily="34" charset="0"/>
                <a:sym typeface="Open Sans 1 Bold"/>
              </a:rPr>
              <a:t>2</a:t>
            </a:r>
            <a:endParaRPr lang="en-US" sz="3525" b="1">
              <a:solidFill>
                <a:srgbClr val="FFFFFF"/>
              </a:solidFill>
              <a:latin typeface="Arial" panose="020B0604020202020204" pitchFamily="34" charset="0"/>
              <a:ea typeface="Open Sans 1 Bold"/>
              <a:cs typeface="Arial" panose="020B0604020202020204" pitchFamily="34" charset="0"/>
              <a:sym typeface="Open Sans 1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53600" y="5448300"/>
            <a:ext cx="4515485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Thiết kế </a:t>
            </a:r>
            <a:r>
              <a:rPr lang="en-US" alt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câu lệnh</a:t>
            </a: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 chuyên biệt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53600" y="6133465"/>
            <a:ext cx="4167505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Trích xuất dữ liệu hóa đơn 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20223" y="6743987"/>
            <a:ext cx="432018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Kiểm soát và xử lý đầu ra AI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906000" y="7405370"/>
            <a:ext cx="4780280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Khai thác AI để phân tích tồn kho 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709910" y="4514215"/>
            <a:ext cx="4652645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Khai thác mô hình AI Gemini</a:t>
            </a:r>
            <a:endParaRPr lang="en-US" sz="250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9" name="Freeform 29"/>
          <p:cNvSpPr/>
          <p:nvPr/>
        </p:nvSpPr>
        <p:spPr>
          <a:xfrm rot="5567035">
            <a:off x="-3923377" y="380303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93147">
            <a:off x="-3042660" y="6571139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9158712">
            <a:off x="12190655" y="8122201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4052134">
            <a:off x="13727019" y="-328007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"/>
          <p:cNvGrpSpPr/>
          <p:nvPr/>
        </p:nvGrpSpPr>
        <p:grpSpPr>
          <a:xfrm rot="0">
            <a:off x="1828653" y="3952686"/>
            <a:ext cx="6471057" cy="4628506"/>
            <a:chOff x="0" y="0"/>
            <a:chExt cx="1704311" cy="1219030"/>
          </a:xfrm>
        </p:grpSpPr>
        <p:sp>
          <p:nvSpPr>
            <p:cNvPr id="34" name="Freeform 4"/>
            <p:cNvSpPr/>
            <p:nvPr/>
          </p:nvSpPr>
          <p:spPr>
            <a:xfrm>
              <a:off x="0" y="0"/>
              <a:ext cx="1704311" cy="1219030"/>
            </a:xfrm>
            <a:custGeom>
              <a:avLst/>
              <a:gdLst/>
              <a:ahLst/>
              <a:cxnLst/>
              <a:rect l="l" t="t" r="r" b="b"/>
              <a:pathLst>
                <a:path w="1704311" h="1219030">
                  <a:moveTo>
                    <a:pt x="13160" y="0"/>
                  </a:moveTo>
                  <a:lnTo>
                    <a:pt x="1691151" y="0"/>
                  </a:lnTo>
                  <a:cubicBezTo>
                    <a:pt x="1694642" y="0"/>
                    <a:pt x="1697989" y="1387"/>
                    <a:pt x="1700457" y="3855"/>
                  </a:cubicBezTo>
                  <a:cubicBezTo>
                    <a:pt x="1702925" y="6323"/>
                    <a:pt x="1704311" y="9670"/>
                    <a:pt x="1704311" y="13160"/>
                  </a:cubicBezTo>
                  <a:lnTo>
                    <a:pt x="1704311" y="1205870"/>
                  </a:lnTo>
                  <a:cubicBezTo>
                    <a:pt x="1704311" y="1213138"/>
                    <a:pt x="1698419" y="1219030"/>
                    <a:pt x="1691151" y="1219030"/>
                  </a:cubicBezTo>
                  <a:lnTo>
                    <a:pt x="13160" y="1219030"/>
                  </a:lnTo>
                  <a:cubicBezTo>
                    <a:pt x="5892" y="1219030"/>
                    <a:pt x="0" y="1213138"/>
                    <a:pt x="0" y="1205870"/>
                  </a:cubicBezTo>
                  <a:lnTo>
                    <a:pt x="0" y="13160"/>
                  </a:lnTo>
                  <a:cubicBezTo>
                    <a:pt x="0" y="5892"/>
                    <a:pt x="5892" y="0"/>
                    <a:pt x="131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395E"/>
              </a:solidFill>
              <a:prstDash val="solid"/>
              <a:miter/>
            </a:ln>
          </p:spPr>
        </p:sp>
        <p:sp>
          <p:nvSpPr>
            <p:cNvPr id="35" name="TextBox 5"/>
            <p:cNvSpPr txBox="1"/>
            <p:nvPr/>
          </p:nvSpPr>
          <p:spPr>
            <a:xfrm>
              <a:off x="0" y="-47625"/>
              <a:ext cx="1704311" cy="1266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7"/>
          <p:cNvGrpSpPr/>
          <p:nvPr/>
        </p:nvGrpSpPr>
        <p:grpSpPr>
          <a:xfrm rot="0">
            <a:off x="2121681" y="4304950"/>
            <a:ext cx="731303" cy="731303"/>
            <a:chOff x="0" y="0"/>
            <a:chExt cx="812800" cy="812800"/>
          </a:xfrm>
        </p:grpSpPr>
        <p:sp>
          <p:nvSpPr>
            <p:cNvPr id="37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C8C"/>
            </a:solidFill>
          </p:spPr>
        </p:sp>
        <p:sp>
          <p:nvSpPr>
            <p:cNvPr id="38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16"/>
          <p:cNvSpPr txBox="1"/>
          <p:nvPr/>
        </p:nvSpPr>
        <p:spPr>
          <a:xfrm>
            <a:off x="3129209" y="4542810"/>
            <a:ext cx="3352425" cy="29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vi-VN" altLang="en-US" sz="2400" b="1">
                <a:solidFill>
                  <a:srgbClr val="00569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Công nghệ có </a:t>
            </a:r>
            <a:r>
              <a:rPr lang="vi-VN" altLang="en-US" sz="2400" b="1">
                <a:solidFill>
                  <a:srgbClr val="00569E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sẵn</a:t>
            </a:r>
            <a:endParaRPr lang="vi-VN" altLang="en-US" sz="2400" b="1">
              <a:solidFill>
                <a:srgbClr val="00569E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1993265" y="6074410"/>
            <a:ext cx="5678170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Tesseract OCR để nhận dạng văn bản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41" name="TextBox 18"/>
          <p:cNvSpPr txBox="1"/>
          <p:nvPr/>
        </p:nvSpPr>
        <p:spPr>
          <a:xfrm>
            <a:off x="2121406" y="6693187"/>
            <a:ext cx="374885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OpenCV để tiền xử lý ảnh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42" name="TextBox 19"/>
          <p:cNvSpPr txBox="1"/>
          <p:nvPr/>
        </p:nvSpPr>
        <p:spPr>
          <a:xfrm>
            <a:off x="2170301" y="5392707"/>
            <a:ext cx="612940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Mô hình </a:t>
            </a: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Google Gemini (gemini-2.5-flash) 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43" name="TextBox 20"/>
          <p:cNvSpPr txBox="1"/>
          <p:nvPr/>
        </p:nvSpPr>
        <p:spPr>
          <a:xfrm>
            <a:off x="2138623" y="7390078"/>
            <a:ext cx="50093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569E"/>
                </a:solidFill>
                <a:latin typeface="Arial" panose="020B0604020202020204" pitchFamily="34" charset="0"/>
                <a:ea typeface="TT Hoves" panose="02000003020000060003"/>
                <a:cs typeface="Arial" panose="020B0604020202020204" pitchFamily="34" charset="0"/>
                <a:sym typeface="TT Hoves" panose="02000003020000060003"/>
              </a:rPr>
              <a:t>ASP.NET Core + Entity Framework</a:t>
            </a:r>
            <a:endParaRPr lang="en-US" sz="2500">
              <a:solidFill>
                <a:srgbClr val="00569E"/>
              </a:solidFill>
              <a:latin typeface="Arial" panose="020B0604020202020204" pitchFamily="34" charset="0"/>
              <a:ea typeface="TT Hoves" panose="02000003020000060003"/>
              <a:cs typeface="Arial" panose="020B0604020202020204" pitchFamily="34" charset="0"/>
              <a:sym typeface="TT Hoves" panose="02000003020000060003"/>
            </a:endParaRPr>
          </a:p>
        </p:txBody>
      </p:sp>
      <p:sp>
        <p:nvSpPr>
          <p:cNvPr id="44" name="TextBox 21"/>
          <p:cNvSpPr txBox="1"/>
          <p:nvPr/>
        </p:nvSpPr>
        <p:spPr>
          <a:xfrm>
            <a:off x="2231689" y="4342457"/>
            <a:ext cx="529232" cy="55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65"/>
              </a:lnSpc>
              <a:spcBef>
                <a:spcPct val="0"/>
              </a:spcBef>
            </a:pPr>
            <a:r>
              <a:rPr lang="en-US" sz="2970" b="1" u="none">
                <a:solidFill>
                  <a:srgbClr val="FFFFFF"/>
                </a:solidFill>
                <a:latin typeface="Arial" panose="020B0604020202020204" pitchFamily="34" charset="0"/>
                <a:ea typeface="Open Sans 1 Bold"/>
                <a:cs typeface="Arial" panose="020B0604020202020204" pitchFamily="34" charset="0"/>
                <a:sym typeface="Open Sans 1 Bold"/>
              </a:rPr>
              <a:t>1</a:t>
            </a:r>
            <a:endParaRPr lang="en-US" sz="2970" b="1" u="none">
              <a:solidFill>
                <a:srgbClr val="FFFFFF"/>
              </a:solidFill>
              <a:latin typeface="Arial" panose="020B0604020202020204" pitchFamily="34" charset="0"/>
              <a:ea typeface="Open Sans 1 Bold"/>
              <a:cs typeface="Arial" panose="020B0604020202020204" pitchFamily="34" charset="0"/>
              <a:sym typeface="Open Sans 1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2942">
            <a:off x="9559595" y="2563046"/>
            <a:ext cx="1194662" cy="971659"/>
          </a:xfrm>
          <a:custGeom>
            <a:avLst/>
            <a:gdLst/>
            <a:ahLst/>
            <a:cxnLst/>
            <a:rect l="l" t="t" r="r" b="b"/>
            <a:pathLst>
              <a:path w="1194662" h="971659">
                <a:moveTo>
                  <a:pt x="0" y="0"/>
                </a:moveTo>
                <a:lnTo>
                  <a:pt x="1194662" y="0"/>
                </a:lnTo>
                <a:lnTo>
                  <a:pt x="1194662" y="971658"/>
                </a:lnTo>
                <a:lnTo>
                  <a:pt x="0" y="97165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477033" y="2664706"/>
            <a:ext cx="4561180" cy="768338"/>
            <a:chOff x="0" y="0"/>
            <a:chExt cx="1426023" cy="2402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6023" cy="240216"/>
            </a:xfrm>
            <a:custGeom>
              <a:avLst/>
              <a:gdLst/>
              <a:ahLst/>
              <a:cxnLst/>
              <a:rect l="l" t="t" r="r" b="b"/>
              <a:pathLst>
                <a:path w="1426023" h="240216">
                  <a:moveTo>
                    <a:pt x="120108" y="0"/>
                  </a:moveTo>
                  <a:lnTo>
                    <a:pt x="1305915" y="0"/>
                  </a:lnTo>
                  <a:cubicBezTo>
                    <a:pt x="1372249" y="0"/>
                    <a:pt x="1426023" y="53774"/>
                    <a:pt x="1426023" y="120108"/>
                  </a:cubicBezTo>
                  <a:lnTo>
                    <a:pt x="1426023" y="120108"/>
                  </a:lnTo>
                  <a:cubicBezTo>
                    <a:pt x="1426023" y="186442"/>
                    <a:pt x="1372249" y="240216"/>
                    <a:pt x="1305915" y="240216"/>
                  </a:cubicBezTo>
                  <a:lnTo>
                    <a:pt x="120108" y="240216"/>
                  </a:lnTo>
                  <a:cubicBezTo>
                    <a:pt x="53774" y="240216"/>
                    <a:pt x="0" y="186442"/>
                    <a:pt x="0" y="120108"/>
                  </a:cubicBezTo>
                  <a:lnTo>
                    <a:pt x="0" y="120108"/>
                  </a:lnTo>
                  <a:cubicBezTo>
                    <a:pt x="0" y="53774"/>
                    <a:pt x="53774" y="0"/>
                    <a:pt x="120108" y="0"/>
                  </a:cubicBezTo>
                  <a:close/>
                </a:path>
              </a:pathLst>
            </a:custGeom>
            <a:solidFill>
              <a:srgbClr val="02B1E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26023" cy="28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72942">
            <a:off x="9613039" y="3887372"/>
            <a:ext cx="1194662" cy="971659"/>
          </a:xfrm>
          <a:custGeom>
            <a:avLst/>
            <a:gdLst/>
            <a:ahLst/>
            <a:cxnLst/>
            <a:rect l="l" t="t" r="r" b="b"/>
            <a:pathLst>
              <a:path w="1194662" h="971659">
                <a:moveTo>
                  <a:pt x="0" y="0"/>
                </a:moveTo>
                <a:lnTo>
                  <a:pt x="1194662" y="0"/>
                </a:lnTo>
                <a:lnTo>
                  <a:pt x="1194662" y="971658"/>
                </a:lnTo>
                <a:lnTo>
                  <a:pt x="0" y="97165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0482571" y="4064084"/>
            <a:ext cx="4561180" cy="690450"/>
            <a:chOff x="0" y="0"/>
            <a:chExt cx="1426023" cy="215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6023" cy="215865"/>
            </a:xfrm>
            <a:custGeom>
              <a:avLst/>
              <a:gdLst/>
              <a:ahLst/>
              <a:cxnLst/>
              <a:rect l="l" t="t" r="r" b="b"/>
              <a:pathLst>
                <a:path w="1426023" h="215865">
                  <a:moveTo>
                    <a:pt x="107932" y="0"/>
                  </a:moveTo>
                  <a:lnTo>
                    <a:pt x="1318091" y="0"/>
                  </a:lnTo>
                  <a:cubicBezTo>
                    <a:pt x="1346716" y="0"/>
                    <a:pt x="1374169" y="11371"/>
                    <a:pt x="1394410" y="31613"/>
                  </a:cubicBezTo>
                  <a:cubicBezTo>
                    <a:pt x="1414651" y="51854"/>
                    <a:pt x="1426023" y="79307"/>
                    <a:pt x="1426023" y="107932"/>
                  </a:cubicBezTo>
                  <a:lnTo>
                    <a:pt x="1426023" y="107932"/>
                  </a:lnTo>
                  <a:cubicBezTo>
                    <a:pt x="1426023" y="167542"/>
                    <a:pt x="1377700" y="215865"/>
                    <a:pt x="1318091" y="215865"/>
                  </a:cubicBezTo>
                  <a:lnTo>
                    <a:pt x="107932" y="215865"/>
                  </a:lnTo>
                  <a:cubicBezTo>
                    <a:pt x="79307" y="215865"/>
                    <a:pt x="51854" y="204493"/>
                    <a:pt x="31613" y="184252"/>
                  </a:cubicBezTo>
                  <a:cubicBezTo>
                    <a:pt x="11371" y="164011"/>
                    <a:pt x="0" y="136558"/>
                    <a:pt x="0" y="107932"/>
                  </a:cubicBezTo>
                  <a:lnTo>
                    <a:pt x="0" y="107932"/>
                  </a:lnTo>
                  <a:cubicBezTo>
                    <a:pt x="0" y="79307"/>
                    <a:pt x="11371" y="51854"/>
                    <a:pt x="31613" y="31613"/>
                  </a:cubicBezTo>
                  <a:cubicBezTo>
                    <a:pt x="51854" y="11371"/>
                    <a:pt x="79307" y="0"/>
                    <a:pt x="107932" y="0"/>
                  </a:cubicBezTo>
                  <a:close/>
                </a:path>
              </a:pathLst>
            </a:custGeom>
            <a:solidFill>
              <a:srgbClr val="009A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26023" cy="26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0539232" y="5400581"/>
            <a:ext cx="5426794" cy="799341"/>
            <a:chOff x="0" y="0"/>
            <a:chExt cx="1696651" cy="2499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6651" cy="249909"/>
            </a:xfrm>
            <a:custGeom>
              <a:avLst/>
              <a:gdLst/>
              <a:ahLst/>
              <a:cxnLst/>
              <a:rect l="l" t="t" r="r" b="b"/>
              <a:pathLst>
                <a:path w="1696651" h="249909">
                  <a:moveTo>
                    <a:pt x="124954" y="0"/>
                  </a:moveTo>
                  <a:lnTo>
                    <a:pt x="1571697" y="0"/>
                  </a:lnTo>
                  <a:cubicBezTo>
                    <a:pt x="1640707" y="0"/>
                    <a:pt x="1696651" y="55944"/>
                    <a:pt x="1696651" y="124954"/>
                  </a:cubicBezTo>
                  <a:lnTo>
                    <a:pt x="1696651" y="124954"/>
                  </a:lnTo>
                  <a:cubicBezTo>
                    <a:pt x="1696651" y="193965"/>
                    <a:pt x="1640707" y="249909"/>
                    <a:pt x="1571697" y="249909"/>
                  </a:cubicBezTo>
                  <a:lnTo>
                    <a:pt x="124954" y="249909"/>
                  </a:lnTo>
                  <a:cubicBezTo>
                    <a:pt x="55944" y="249909"/>
                    <a:pt x="0" y="193965"/>
                    <a:pt x="0" y="124954"/>
                  </a:cubicBezTo>
                  <a:lnTo>
                    <a:pt x="0" y="124954"/>
                  </a:lnTo>
                  <a:cubicBezTo>
                    <a:pt x="0" y="55944"/>
                    <a:pt x="55944" y="0"/>
                    <a:pt x="12495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6651" cy="297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9597328" y="6824243"/>
            <a:ext cx="1194662" cy="971659"/>
          </a:xfrm>
          <a:custGeom>
            <a:avLst/>
            <a:gdLst/>
            <a:ahLst/>
            <a:cxnLst/>
            <a:rect l="l" t="t" r="r" b="b"/>
            <a:pathLst>
              <a:path w="1194662" h="971659">
                <a:moveTo>
                  <a:pt x="0" y="0"/>
                </a:moveTo>
                <a:lnTo>
                  <a:pt x="1194662" y="0"/>
                </a:lnTo>
                <a:lnTo>
                  <a:pt x="1194662" y="971658"/>
                </a:lnTo>
                <a:lnTo>
                  <a:pt x="0" y="97165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0527968" y="6964677"/>
            <a:ext cx="6224775" cy="690790"/>
            <a:chOff x="0" y="0"/>
            <a:chExt cx="1946135" cy="2159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46135" cy="215971"/>
            </a:xfrm>
            <a:custGeom>
              <a:avLst/>
              <a:gdLst/>
              <a:ahLst/>
              <a:cxnLst/>
              <a:rect l="l" t="t" r="r" b="b"/>
              <a:pathLst>
                <a:path w="1946135" h="215971">
                  <a:moveTo>
                    <a:pt x="107985" y="0"/>
                  </a:moveTo>
                  <a:lnTo>
                    <a:pt x="1838149" y="0"/>
                  </a:lnTo>
                  <a:cubicBezTo>
                    <a:pt x="1866789" y="0"/>
                    <a:pt x="1894255" y="11377"/>
                    <a:pt x="1914507" y="31628"/>
                  </a:cubicBezTo>
                  <a:cubicBezTo>
                    <a:pt x="1934758" y="51879"/>
                    <a:pt x="1946135" y="79346"/>
                    <a:pt x="1946135" y="107985"/>
                  </a:cubicBezTo>
                  <a:lnTo>
                    <a:pt x="1946135" y="107985"/>
                  </a:lnTo>
                  <a:cubicBezTo>
                    <a:pt x="1946135" y="167624"/>
                    <a:pt x="1897788" y="215971"/>
                    <a:pt x="1838149" y="215971"/>
                  </a:cubicBezTo>
                  <a:lnTo>
                    <a:pt x="107985" y="215971"/>
                  </a:lnTo>
                  <a:cubicBezTo>
                    <a:pt x="48347" y="215971"/>
                    <a:pt x="0" y="167624"/>
                    <a:pt x="0" y="107985"/>
                  </a:cubicBezTo>
                  <a:lnTo>
                    <a:pt x="0" y="107985"/>
                  </a:lnTo>
                  <a:cubicBezTo>
                    <a:pt x="0" y="48347"/>
                    <a:pt x="48347" y="0"/>
                    <a:pt x="107985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946135" cy="263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 rot="72942">
            <a:off x="9559595" y="8246615"/>
            <a:ext cx="1194662" cy="971659"/>
          </a:xfrm>
          <a:custGeom>
            <a:avLst/>
            <a:gdLst/>
            <a:ahLst/>
            <a:cxnLst/>
            <a:rect l="l" t="t" r="r" b="b"/>
            <a:pathLst>
              <a:path w="1194662" h="971659">
                <a:moveTo>
                  <a:pt x="0" y="0"/>
                </a:moveTo>
                <a:lnTo>
                  <a:pt x="1194662" y="0"/>
                </a:lnTo>
                <a:lnTo>
                  <a:pt x="1194662" y="971659"/>
                </a:lnTo>
                <a:lnTo>
                  <a:pt x="0" y="9716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0449614" y="8340652"/>
            <a:ext cx="7516374" cy="783585"/>
            <a:chOff x="0" y="0"/>
            <a:chExt cx="2349944" cy="24498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49945" cy="244983"/>
            </a:xfrm>
            <a:custGeom>
              <a:avLst/>
              <a:gdLst/>
              <a:ahLst/>
              <a:cxnLst/>
              <a:rect l="l" t="t" r="r" b="b"/>
              <a:pathLst>
                <a:path w="2349945" h="244983">
                  <a:moveTo>
                    <a:pt x="103001" y="0"/>
                  </a:moveTo>
                  <a:lnTo>
                    <a:pt x="2246944" y="0"/>
                  </a:lnTo>
                  <a:cubicBezTo>
                    <a:pt x="2303830" y="0"/>
                    <a:pt x="2349945" y="46115"/>
                    <a:pt x="2349945" y="103001"/>
                  </a:cubicBezTo>
                  <a:lnTo>
                    <a:pt x="2349945" y="141982"/>
                  </a:lnTo>
                  <a:cubicBezTo>
                    <a:pt x="2349945" y="169299"/>
                    <a:pt x="2339093" y="195498"/>
                    <a:pt x="2319776" y="214815"/>
                  </a:cubicBezTo>
                  <a:cubicBezTo>
                    <a:pt x="2300460" y="234131"/>
                    <a:pt x="2274261" y="244983"/>
                    <a:pt x="2246944" y="244983"/>
                  </a:cubicBezTo>
                  <a:lnTo>
                    <a:pt x="103001" y="244983"/>
                  </a:lnTo>
                  <a:cubicBezTo>
                    <a:pt x="46115" y="244983"/>
                    <a:pt x="0" y="198868"/>
                    <a:pt x="0" y="141982"/>
                  </a:cubicBezTo>
                  <a:lnTo>
                    <a:pt x="0" y="103001"/>
                  </a:lnTo>
                  <a:cubicBezTo>
                    <a:pt x="0" y="46115"/>
                    <a:pt x="46115" y="0"/>
                    <a:pt x="103001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49944" cy="292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9619122" y="5309744"/>
            <a:ext cx="1189199" cy="967215"/>
          </a:xfrm>
          <a:custGeom>
            <a:avLst/>
            <a:gdLst/>
            <a:ahLst/>
            <a:cxnLst/>
            <a:rect l="l" t="t" r="r" b="b"/>
            <a:pathLst>
              <a:path w="1189199" h="967215">
                <a:moveTo>
                  <a:pt x="0" y="0"/>
                </a:moveTo>
                <a:lnTo>
                  <a:pt x="1189199" y="0"/>
                </a:lnTo>
                <a:lnTo>
                  <a:pt x="1189199" y="967216"/>
                </a:lnTo>
                <a:lnTo>
                  <a:pt x="0" y="96721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597328" y="2846954"/>
            <a:ext cx="496727" cy="33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0" b="1">
                <a:solidFill>
                  <a:srgbClr val="000000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01</a:t>
            </a:r>
            <a:endParaRPr lang="en-US" sz="2020" b="1">
              <a:solidFill>
                <a:srgbClr val="000000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02866" y="8536430"/>
            <a:ext cx="496727" cy="33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0" b="1">
                <a:solidFill>
                  <a:srgbClr val="000000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05</a:t>
            </a:r>
            <a:endParaRPr lang="en-US" sz="2020" b="1">
              <a:solidFill>
                <a:srgbClr val="000000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48800" y="1485900"/>
            <a:ext cx="7539355" cy="7823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Quy trình hoạt động OCR + AI 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  <a:p>
            <a:pPr algn="ctr">
              <a:lnSpc>
                <a:spcPts val="4500"/>
              </a:lnSpc>
              <a:spcBef>
                <a:spcPct val="0"/>
              </a:spcBef>
            </a:pP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950485" y="2822010"/>
            <a:ext cx="3979157" cy="3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020" b="1">
                <a:solidFill>
                  <a:srgbClr val="FFFFFF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Người dùng tải ảnh hóa đơn</a:t>
            </a:r>
            <a:endParaRPr lang="en-US" sz="2020" b="1">
              <a:solidFill>
                <a:srgbClr val="FFFFFF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48864" y="4228799"/>
            <a:ext cx="2613851" cy="3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020" b="1">
                <a:solidFill>
                  <a:srgbClr val="FFFFFF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OpenCV xử lý ảnh </a:t>
            </a:r>
            <a:endParaRPr lang="en-US" sz="2020" b="1">
              <a:solidFill>
                <a:srgbClr val="FFFFFF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818448" y="5550526"/>
            <a:ext cx="4868362" cy="3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020" b="1">
                <a:solidFill>
                  <a:srgbClr val="FFFFFF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Tesseract OCR nhận dạng văn bản</a:t>
            </a:r>
            <a:endParaRPr lang="en-US" sz="2020" b="1">
              <a:solidFill>
                <a:srgbClr val="FFFFFF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584400" y="7057712"/>
            <a:ext cx="6208173" cy="3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020" b="1">
                <a:solidFill>
                  <a:srgbClr val="FFFFFF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Gemini AI phân tích và trích xuất dữ liệu</a:t>
            </a:r>
            <a:endParaRPr lang="en-US" sz="2020" b="1">
              <a:solidFill>
                <a:srgbClr val="FFFFFF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754257" y="8503671"/>
            <a:ext cx="6987655" cy="3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020" b="1">
                <a:solidFill>
                  <a:srgbClr val="FFFFFF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Hệ thống hiển thị kết quả → người dùng xác nhận</a:t>
            </a:r>
            <a:endParaRPr lang="en-US" sz="2020" b="1">
              <a:solidFill>
                <a:srgbClr val="FFFFFF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650772" y="4171280"/>
            <a:ext cx="496727" cy="33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0" b="1">
                <a:solidFill>
                  <a:srgbClr val="000000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02</a:t>
            </a:r>
            <a:endParaRPr lang="en-US" sz="2020" b="1">
              <a:solidFill>
                <a:srgbClr val="000000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656683" y="5592180"/>
            <a:ext cx="494456" cy="33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0" b="1">
                <a:solidFill>
                  <a:srgbClr val="000000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03</a:t>
            </a:r>
            <a:endParaRPr lang="en-US" sz="2020" b="1">
              <a:solidFill>
                <a:srgbClr val="000000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635062" y="7108151"/>
            <a:ext cx="496727" cy="33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020" b="1">
                <a:solidFill>
                  <a:srgbClr val="000000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04</a:t>
            </a:r>
            <a:endParaRPr lang="en-US" sz="2020" b="1">
              <a:solidFill>
                <a:srgbClr val="000000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866289" y="396719"/>
            <a:ext cx="676751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CHỨC NĂNG AI CHATBOT</a:t>
            </a:r>
            <a:endParaRPr 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426788" y="2226813"/>
            <a:ext cx="6044922" cy="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Arial" panose="020B0604020202020204" pitchFamily="34" charset="0"/>
                <a:ea typeface="Montserrat Italics" panose="00000500000000000000"/>
                <a:cs typeface="Arial" panose="020B0604020202020204" pitchFamily="34" charset="0"/>
                <a:sym typeface="Montserrat Italics" panose="00000500000000000000"/>
              </a:rPr>
              <a:t> (ví dụ: “Sản phẩm A còn bao nhiêu?”)</a:t>
            </a:r>
            <a:endParaRPr lang="en-US" sz="2500" i="1">
              <a:solidFill>
                <a:srgbClr val="000000"/>
              </a:solidFill>
              <a:latin typeface="Arial" panose="020B0604020202020204" pitchFamily="34" charset="0"/>
              <a:ea typeface="Montserrat Italics" panose="00000500000000000000"/>
              <a:cs typeface="Arial" panose="020B0604020202020204" pitchFamily="34" charset="0"/>
              <a:sym typeface="Montserrat Italics" panose="00000500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436446" y="2884039"/>
            <a:ext cx="4384119" cy="5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Hỗ trợ tạo phiếu nhập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426788" y="1474157"/>
            <a:ext cx="6633806" cy="5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Trả lời câu hỏi ngôn ngữ tự nhiên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37" name="Freeform 37"/>
          <p:cNvSpPr/>
          <p:nvPr/>
        </p:nvSpPr>
        <p:spPr>
          <a:xfrm flipH="1">
            <a:off x="1424846" y="1589474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5" y="0"/>
                </a:moveTo>
                <a:lnTo>
                  <a:pt x="0" y="0"/>
                </a:lnTo>
                <a:lnTo>
                  <a:pt x="0" y="369442"/>
                </a:lnTo>
                <a:lnTo>
                  <a:pt x="775545" y="369442"/>
                </a:lnTo>
                <a:lnTo>
                  <a:pt x="7755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2490203" y="3718195"/>
            <a:ext cx="356997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Phân tích tồn kho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436446" y="4409012"/>
            <a:ext cx="579441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Arial" panose="020B0604020202020204" pitchFamily="34" charset="0"/>
                <a:ea typeface="Montserrat Italics" panose="00000500000000000000"/>
                <a:cs typeface="Arial" panose="020B0604020202020204" pitchFamily="34" charset="0"/>
                <a:sym typeface="Montserrat Italics" panose="00000500000000000000"/>
              </a:rPr>
              <a:t>→ Báo cáo chi tiết tình trạng tồn kho</a:t>
            </a:r>
            <a:endParaRPr lang="en-US" sz="2500" i="1">
              <a:solidFill>
                <a:srgbClr val="000000"/>
              </a:solidFill>
              <a:latin typeface="Arial" panose="020B0604020202020204" pitchFamily="34" charset="0"/>
              <a:ea typeface="Montserrat Italics" panose="00000500000000000000"/>
              <a:cs typeface="Arial" panose="020B0604020202020204" pitchFamily="34" charset="0"/>
              <a:sym typeface="Montserrat Italics" panose="0000050000000000000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436446" y="5037985"/>
            <a:ext cx="290441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Gợi ý đặt hàng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436446" y="5794042"/>
            <a:ext cx="5175171" cy="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Arial" panose="020B0604020202020204" pitchFamily="34" charset="0"/>
                <a:ea typeface="Montserrat Italics" panose="00000500000000000000"/>
                <a:cs typeface="Arial" panose="020B0604020202020204" pitchFamily="34" charset="0"/>
                <a:sym typeface="Montserrat Italics" panose="00000500000000000000"/>
              </a:rPr>
              <a:t>→ Danh sách sản phẩm cần đặt </a:t>
            </a:r>
            <a:endParaRPr lang="en-US" sz="2500" i="1">
              <a:solidFill>
                <a:srgbClr val="000000"/>
              </a:solidFill>
              <a:latin typeface="Arial" panose="020B0604020202020204" pitchFamily="34" charset="0"/>
              <a:ea typeface="Montserrat Italics" panose="00000500000000000000"/>
              <a:cs typeface="Arial" panose="020B0604020202020204" pitchFamily="34" charset="0"/>
              <a:sym typeface="Montserrat Italics" panose="000005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490203" y="6533433"/>
            <a:ext cx="286702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Tối ưu tồn kho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397751" y="7228758"/>
            <a:ext cx="4983004" cy="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Arial" panose="020B0604020202020204" pitchFamily="34" charset="0"/>
                <a:ea typeface="Montserrat Italics" panose="00000500000000000000"/>
                <a:cs typeface="Arial" panose="020B0604020202020204" pitchFamily="34" charset="0"/>
                <a:sym typeface="Montserrat Italics" panose="00000500000000000000"/>
              </a:rPr>
              <a:t>→ Đề xuất cải thiện quản lý kho</a:t>
            </a:r>
            <a:endParaRPr lang="en-US" sz="2500" i="1">
              <a:solidFill>
                <a:srgbClr val="000000"/>
              </a:solidFill>
              <a:latin typeface="Arial" panose="020B0604020202020204" pitchFamily="34" charset="0"/>
              <a:ea typeface="Montserrat Italics" panose="00000500000000000000"/>
              <a:cs typeface="Arial" panose="020B0604020202020204" pitchFamily="34" charset="0"/>
              <a:sym typeface="Montserrat Italics" panose="00000500000000000000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426788" y="7981234"/>
            <a:ext cx="3683198" cy="5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Sản phẩm dư thừa</a:t>
            </a:r>
            <a:endParaRPr lang="en-US" sz="3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359220" y="8686086"/>
            <a:ext cx="4063365" cy="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Arial" panose="020B0604020202020204" pitchFamily="34" charset="0"/>
                <a:ea typeface="Montserrat Italics" panose="00000500000000000000"/>
                <a:cs typeface="Arial" panose="020B0604020202020204" pitchFamily="34" charset="0"/>
                <a:sym typeface="Montserrat Italics" panose="00000500000000000000"/>
              </a:rPr>
              <a:t>→ Sản phẩm cần xả hàng</a:t>
            </a:r>
            <a:endParaRPr lang="en-US" sz="2500" i="1">
              <a:solidFill>
                <a:srgbClr val="000000"/>
              </a:solidFill>
              <a:latin typeface="Arial" panose="020B0604020202020204" pitchFamily="34" charset="0"/>
              <a:ea typeface="Montserrat Italics" panose="00000500000000000000"/>
              <a:cs typeface="Arial" panose="020B0604020202020204" pitchFamily="34" charset="0"/>
              <a:sym typeface="Montserrat Italics" panose="00000500000000000000"/>
            </a:endParaRPr>
          </a:p>
        </p:txBody>
      </p:sp>
      <p:sp>
        <p:nvSpPr>
          <p:cNvPr id="46" name="Freeform 46"/>
          <p:cNvSpPr/>
          <p:nvPr/>
        </p:nvSpPr>
        <p:spPr>
          <a:xfrm flipH="1">
            <a:off x="1488260" y="3847800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6" y="0"/>
                </a:moveTo>
                <a:lnTo>
                  <a:pt x="0" y="0"/>
                </a:lnTo>
                <a:lnTo>
                  <a:pt x="0" y="369441"/>
                </a:lnTo>
                <a:lnTo>
                  <a:pt x="775546" y="369441"/>
                </a:lnTo>
                <a:lnTo>
                  <a:pt x="7755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488260" y="5167589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6" y="0"/>
                </a:moveTo>
                <a:lnTo>
                  <a:pt x="0" y="0"/>
                </a:lnTo>
                <a:lnTo>
                  <a:pt x="0" y="369441"/>
                </a:lnTo>
                <a:lnTo>
                  <a:pt x="775546" y="369441"/>
                </a:lnTo>
                <a:lnTo>
                  <a:pt x="7755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488260" y="6619158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6" y="0"/>
                </a:moveTo>
                <a:lnTo>
                  <a:pt x="0" y="0"/>
                </a:lnTo>
                <a:lnTo>
                  <a:pt x="0" y="369442"/>
                </a:lnTo>
                <a:lnTo>
                  <a:pt x="775546" y="369442"/>
                </a:lnTo>
                <a:lnTo>
                  <a:pt x="7755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 flipH="1">
            <a:off x="1424846" y="8095668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5" y="0"/>
                </a:moveTo>
                <a:lnTo>
                  <a:pt x="0" y="0"/>
                </a:lnTo>
                <a:lnTo>
                  <a:pt x="0" y="369442"/>
                </a:lnTo>
                <a:lnTo>
                  <a:pt x="775545" y="369442"/>
                </a:lnTo>
                <a:lnTo>
                  <a:pt x="7755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 flipH="1">
            <a:off x="1488260" y="2979699"/>
            <a:ext cx="775545" cy="369442"/>
          </a:xfrm>
          <a:custGeom>
            <a:avLst/>
            <a:gdLst/>
            <a:ahLst/>
            <a:cxnLst/>
            <a:rect l="l" t="t" r="r" b="b"/>
            <a:pathLst>
              <a:path w="775545" h="369442">
                <a:moveTo>
                  <a:pt x="775546" y="0"/>
                </a:moveTo>
                <a:lnTo>
                  <a:pt x="0" y="0"/>
                </a:lnTo>
                <a:lnTo>
                  <a:pt x="0" y="369442"/>
                </a:lnTo>
                <a:lnTo>
                  <a:pt x="775546" y="369442"/>
                </a:lnTo>
                <a:lnTo>
                  <a:pt x="7755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 rot="5567035">
            <a:off x="-4156639" y="503116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 rot="-93147">
            <a:off x="-3281637" y="6817142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4"/>
                </a:lnTo>
                <a:lnTo>
                  <a:pt x="0" y="62382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rot="-5043315">
            <a:off x="13727019" y="5930046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1"/>
                </a:lnTo>
                <a:lnTo>
                  <a:pt x="0" y="3731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rot="4052134">
            <a:off x="13835387" y="-379819"/>
            <a:ext cx="9121962" cy="3731712"/>
          </a:xfrm>
          <a:custGeom>
            <a:avLst/>
            <a:gdLst/>
            <a:ahLst/>
            <a:cxnLst/>
            <a:rect l="l" t="t" r="r" b="b"/>
            <a:pathLst>
              <a:path w="9121962" h="3731712">
                <a:moveTo>
                  <a:pt x="0" y="0"/>
                </a:moveTo>
                <a:lnTo>
                  <a:pt x="9121962" y="0"/>
                </a:lnTo>
                <a:lnTo>
                  <a:pt x="9121962" y="3731712"/>
                </a:lnTo>
                <a:lnTo>
                  <a:pt x="0" y="3731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105400" y="419100"/>
            <a:ext cx="914400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569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SƠ ĐỒ ERD</a:t>
            </a:r>
            <a:endParaRPr lang="vi-VN" altLang="en-US" sz="4000" b="1">
              <a:solidFill>
                <a:srgbClr val="00569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pic>
        <p:nvPicPr>
          <p:cNvPr id="80" name="Picture 17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683" y="1257300"/>
            <a:ext cx="11459894" cy="868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9" name="Picture 16" descr="IMG_256"/>
          <p:cNvPicPr>
            <a:picLocks noChangeAspect="1"/>
          </p:cNvPicPr>
          <p:nvPr/>
        </p:nvPicPr>
        <p:blipFill>
          <a:blip r:embed="rId1"/>
          <a:srcRect t="3333"/>
          <a:stretch>
            <a:fillRect/>
          </a:stretch>
        </p:blipFill>
        <p:spPr>
          <a:xfrm>
            <a:off x="3352800" y="1181100"/>
            <a:ext cx="12633960" cy="883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5334000" y="342900"/>
            <a:ext cx="914400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569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SƠ ĐỒ </a:t>
            </a:r>
            <a:r>
              <a:rPr lang="vi-VN" altLang="en-US" sz="4000" b="1">
                <a:solidFill>
                  <a:srgbClr val="00569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CLASS</a:t>
            </a:r>
            <a:endParaRPr lang="vi-VN" altLang="en-US" sz="4000" b="1">
              <a:solidFill>
                <a:srgbClr val="00569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045298" flipV="1">
            <a:off x="13060512" y="1743804"/>
            <a:ext cx="8900926" cy="3641288"/>
          </a:xfrm>
          <a:custGeom>
            <a:avLst/>
            <a:gdLst/>
            <a:ahLst/>
            <a:cxnLst/>
            <a:rect l="l" t="t" r="r" b="b"/>
            <a:pathLst>
              <a:path w="8900926" h="3641288">
                <a:moveTo>
                  <a:pt x="0" y="3641288"/>
                </a:moveTo>
                <a:lnTo>
                  <a:pt x="8900927" y="3641288"/>
                </a:lnTo>
                <a:lnTo>
                  <a:pt x="8900927" y="0"/>
                </a:lnTo>
                <a:lnTo>
                  <a:pt x="0" y="0"/>
                </a:lnTo>
                <a:lnTo>
                  <a:pt x="0" y="364128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05618" y="-1507048"/>
            <a:ext cx="12396990" cy="5071496"/>
          </a:xfrm>
          <a:custGeom>
            <a:avLst/>
            <a:gdLst/>
            <a:ahLst/>
            <a:cxnLst/>
            <a:rect l="l" t="t" r="r" b="b"/>
            <a:pathLst>
              <a:path w="12396990" h="5071496">
                <a:moveTo>
                  <a:pt x="0" y="5071496"/>
                </a:moveTo>
                <a:lnTo>
                  <a:pt x="12396990" y="5071496"/>
                </a:lnTo>
                <a:lnTo>
                  <a:pt x="12396990" y="0"/>
                </a:lnTo>
                <a:lnTo>
                  <a:pt x="0" y="0"/>
                </a:lnTo>
                <a:lnTo>
                  <a:pt x="0" y="507149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6180">
            <a:off x="-3321778" y="6841397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3"/>
                </a:lnTo>
                <a:lnTo>
                  <a:pt x="0" y="62382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66543" y="1214046"/>
            <a:ext cx="5412820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KẾT QUẢ ĐẠT ĐƯỢC</a:t>
            </a:r>
            <a:endParaRPr 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3809986" y="2716784"/>
            <a:ext cx="11910832" cy="6039295"/>
            <a:chOff x="0" y="0"/>
            <a:chExt cx="4274726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33149" y="0"/>
                  </a:moveTo>
                  <a:lnTo>
                    <a:pt x="4241576" y="0"/>
                  </a:lnTo>
                  <a:cubicBezTo>
                    <a:pt x="4259885" y="0"/>
                    <a:pt x="4274726" y="14842"/>
                    <a:pt x="4274726" y="33149"/>
                  </a:cubicBezTo>
                  <a:lnTo>
                    <a:pt x="4274726" y="2134317"/>
                  </a:lnTo>
                  <a:cubicBezTo>
                    <a:pt x="4274726" y="2152625"/>
                    <a:pt x="4259885" y="2167467"/>
                    <a:pt x="4241576" y="2167467"/>
                  </a:cubicBezTo>
                  <a:lnTo>
                    <a:pt x="33149" y="2167467"/>
                  </a:lnTo>
                  <a:cubicBezTo>
                    <a:pt x="14842" y="2167467"/>
                    <a:pt x="0" y="2152625"/>
                    <a:pt x="0" y="2134317"/>
                  </a:cubicBezTo>
                  <a:lnTo>
                    <a:pt x="0" y="33149"/>
                  </a:lnTo>
                  <a:cubicBezTo>
                    <a:pt x="0" y="14842"/>
                    <a:pt x="14842" y="0"/>
                    <a:pt x="33149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45968" y="3349357"/>
            <a:ext cx="11038869" cy="93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Tối ưu quản lý kho: Quản lý hàng tồn, nhập – xuất kho chính xác, 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dễ dàng truy xuất lịch sử.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45968" y="5454865"/>
            <a:ext cx="11910832" cy="95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Tiết kiệm thời gian &amp; nhân lực: Tự động hóa quy trình nhập</a:t>
            </a:r>
            <a:r>
              <a:rPr lang="vi-VN" alt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liệu, 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giảm thao tác thủ công.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245968" y="4337445"/>
            <a:ext cx="11910832" cy="931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Nâng cao hiệu suất làm việc: Giao diện thân thiện, hỗ trợ người 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dùng thao tác nhanh, phù hợp với nhiều vai trò.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45968" y="6572285"/>
            <a:ext cx="11910832" cy="95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Ứng dụng công nghệ: Kết hợp AI, OCR và nền tảng web</a:t>
            </a:r>
            <a:r>
              <a:rPr lang="vi-VN" alt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65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giúp doanh nghiệp dễ triển khai, mở rộng và tích hợp.</a:t>
            </a:r>
            <a:endParaRPr lang="en-US" sz="265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190854" y="7689729"/>
            <a:ext cx="7587020" cy="43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  <a:spcBef>
                <a:spcPct val="0"/>
              </a:spcBef>
            </a:pPr>
            <a:r>
              <a:rPr lang="en-US" sz="26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6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Chatbot hỗ trợ thao tác nhanh và chính xác.</a:t>
            </a:r>
            <a:endParaRPr lang="en-US" sz="26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4" name="Freeform 14"/>
          <p:cNvSpPr/>
          <p:nvPr/>
        </p:nvSpPr>
        <p:spPr>
          <a:xfrm rot="2321539">
            <a:off x="14217121" y="7181259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5" y="0"/>
                </a:lnTo>
                <a:lnTo>
                  <a:pt x="10046825" y="10046825"/>
                </a:lnTo>
                <a:lnTo>
                  <a:pt x="0" y="100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045298" flipV="1">
            <a:off x="13060512" y="1743804"/>
            <a:ext cx="8900926" cy="3641288"/>
          </a:xfrm>
          <a:custGeom>
            <a:avLst/>
            <a:gdLst/>
            <a:ahLst/>
            <a:cxnLst/>
            <a:rect l="l" t="t" r="r" b="b"/>
            <a:pathLst>
              <a:path w="8900926" h="3641288">
                <a:moveTo>
                  <a:pt x="0" y="3641288"/>
                </a:moveTo>
                <a:lnTo>
                  <a:pt x="8900927" y="3641288"/>
                </a:lnTo>
                <a:lnTo>
                  <a:pt x="8900927" y="0"/>
                </a:lnTo>
                <a:lnTo>
                  <a:pt x="0" y="0"/>
                </a:lnTo>
                <a:lnTo>
                  <a:pt x="0" y="364128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05618" y="-1507048"/>
            <a:ext cx="12396990" cy="5071496"/>
          </a:xfrm>
          <a:custGeom>
            <a:avLst/>
            <a:gdLst/>
            <a:ahLst/>
            <a:cxnLst/>
            <a:rect l="l" t="t" r="r" b="b"/>
            <a:pathLst>
              <a:path w="12396990" h="5071496">
                <a:moveTo>
                  <a:pt x="0" y="5071496"/>
                </a:moveTo>
                <a:lnTo>
                  <a:pt x="12396990" y="5071496"/>
                </a:lnTo>
                <a:lnTo>
                  <a:pt x="12396990" y="0"/>
                </a:lnTo>
                <a:lnTo>
                  <a:pt x="0" y="0"/>
                </a:lnTo>
                <a:lnTo>
                  <a:pt x="0" y="507149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6180">
            <a:off x="-3321778" y="6841397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3"/>
                </a:lnTo>
                <a:lnTo>
                  <a:pt x="0" y="62382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99530" y="1214046"/>
            <a:ext cx="7146846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KHÓ KHĂN VÀ THỬ THÁCH</a:t>
            </a:r>
            <a:endParaRPr 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3765550" y="2489835"/>
            <a:ext cx="11584305" cy="5247005"/>
            <a:chOff x="0" y="0"/>
            <a:chExt cx="4274726" cy="18830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1883022"/>
            </a:xfrm>
            <a:custGeom>
              <a:avLst/>
              <a:gdLst/>
              <a:ahLst/>
              <a:cxnLst/>
              <a:rect l="l" t="t" r="r" b="b"/>
              <a:pathLst>
                <a:path w="4274726" h="1883022">
                  <a:moveTo>
                    <a:pt x="33149" y="0"/>
                  </a:moveTo>
                  <a:lnTo>
                    <a:pt x="4241576" y="0"/>
                  </a:lnTo>
                  <a:cubicBezTo>
                    <a:pt x="4259885" y="0"/>
                    <a:pt x="4274726" y="14842"/>
                    <a:pt x="4274726" y="33149"/>
                  </a:cubicBezTo>
                  <a:lnTo>
                    <a:pt x="4274726" y="1849872"/>
                  </a:lnTo>
                  <a:cubicBezTo>
                    <a:pt x="4274726" y="1868180"/>
                    <a:pt x="4259885" y="1883022"/>
                    <a:pt x="4241576" y="1883022"/>
                  </a:cubicBezTo>
                  <a:lnTo>
                    <a:pt x="33149" y="1883022"/>
                  </a:lnTo>
                  <a:cubicBezTo>
                    <a:pt x="14842" y="1883022"/>
                    <a:pt x="0" y="1868180"/>
                    <a:pt x="0" y="1849872"/>
                  </a:cubicBezTo>
                  <a:lnTo>
                    <a:pt x="0" y="33149"/>
                  </a:lnTo>
                  <a:cubicBezTo>
                    <a:pt x="0" y="14842"/>
                    <a:pt x="14842" y="0"/>
                    <a:pt x="33149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1921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02693" y="3716374"/>
            <a:ext cx="7876669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AI phụ thuộc vào chất lượng dữ liệu đầu vào.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19533" y="3086211"/>
            <a:ext cx="6827038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OCR sai khi hóa đơn mờ hoặc nghiêng.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02693" y="4344212"/>
            <a:ext cx="7130708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Chi phí xử lý AI cao khi mở rộng quy mô.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19600" y="4930140"/>
            <a:ext cx="7828915" cy="62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Cần xác nhận thủ công để đảm bảo chính xác.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72000" y="5601970"/>
            <a:ext cx="10051415" cy="1240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AI mới dựa vào </a:t>
            </a:r>
            <a:r>
              <a:rPr lang="en-US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dựa trên quy tắc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và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phân tích đơn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giản,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chưa có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học máy sâu.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4" name="Freeform 14"/>
          <p:cNvSpPr/>
          <p:nvPr/>
        </p:nvSpPr>
        <p:spPr>
          <a:xfrm rot="2321539">
            <a:off x="14057610" y="6553421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6" y="0"/>
                </a:lnTo>
                <a:lnTo>
                  <a:pt x="10046826" y="10046825"/>
                </a:lnTo>
                <a:lnTo>
                  <a:pt x="0" y="100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4271" y="379162"/>
            <a:ext cx="9950138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KẾT LUẬN VÀ HƯỚNG PHÁT TRIỂN</a:t>
            </a:r>
            <a:endParaRPr 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3582967" y="6469240"/>
            <a:ext cx="11588855" cy="2992895"/>
            <a:chOff x="0" y="0"/>
            <a:chExt cx="4159170" cy="10741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59170" cy="1074132"/>
            </a:xfrm>
            <a:custGeom>
              <a:avLst/>
              <a:gdLst/>
              <a:ahLst/>
              <a:cxnLst/>
              <a:rect l="l" t="t" r="r" b="b"/>
              <a:pathLst>
                <a:path w="4159170" h="1074132">
                  <a:moveTo>
                    <a:pt x="34070" y="0"/>
                  </a:moveTo>
                  <a:lnTo>
                    <a:pt x="4125100" y="0"/>
                  </a:lnTo>
                  <a:cubicBezTo>
                    <a:pt x="4134136" y="0"/>
                    <a:pt x="4142802" y="3590"/>
                    <a:pt x="4149191" y="9979"/>
                  </a:cubicBezTo>
                  <a:cubicBezTo>
                    <a:pt x="4155580" y="16368"/>
                    <a:pt x="4159170" y="25034"/>
                    <a:pt x="4159170" y="34070"/>
                  </a:cubicBezTo>
                  <a:lnTo>
                    <a:pt x="4159170" y="1040061"/>
                  </a:lnTo>
                  <a:cubicBezTo>
                    <a:pt x="4159170" y="1058878"/>
                    <a:pt x="4143916" y="1074132"/>
                    <a:pt x="4125100" y="1074132"/>
                  </a:cubicBezTo>
                  <a:lnTo>
                    <a:pt x="34070" y="1074132"/>
                  </a:lnTo>
                  <a:cubicBezTo>
                    <a:pt x="25034" y="1074132"/>
                    <a:pt x="16368" y="1070542"/>
                    <a:pt x="9979" y="1064153"/>
                  </a:cubicBezTo>
                  <a:cubicBezTo>
                    <a:pt x="3590" y="1057763"/>
                    <a:pt x="0" y="1049097"/>
                    <a:pt x="0" y="1040061"/>
                  </a:cubicBezTo>
                  <a:lnTo>
                    <a:pt x="0" y="34070"/>
                  </a:lnTo>
                  <a:cubicBezTo>
                    <a:pt x="0" y="25034"/>
                    <a:pt x="3590" y="16368"/>
                    <a:pt x="9979" y="9979"/>
                  </a:cubicBezTo>
                  <a:cubicBezTo>
                    <a:pt x="16368" y="3590"/>
                    <a:pt x="25034" y="0"/>
                    <a:pt x="34070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59170" cy="1112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57908" y="6755548"/>
            <a:ext cx="7304081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Huấn luyện AI theo mẫu hóa đơn thực tế.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06513" y="7372169"/>
            <a:ext cx="10790339" cy="116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Cải thiện khả năng đọc và xử lý bảng giá từ hóa đơn, nâng cao độ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just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chính xác.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911106" y="8548856"/>
            <a:ext cx="8482727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Tích hợp thiết bị phần cứng (máy quét, in hóa đơn).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3582967" y="1541212"/>
            <a:ext cx="11588855" cy="4535170"/>
            <a:chOff x="0" y="-38059"/>
            <a:chExt cx="4159170" cy="16276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59170" cy="1493339"/>
            </a:xfrm>
            <a:custGeom>
              <a:avLst/>
              <a:gdLst/>
              <a:ahLst/>
              <a:cxnLst/>
              <a:rect l="l" t="t" r="r" b="b"/>
              <a:pathLst>
                <a:path w="4159170" h="1493339">
                  <a:moveTo>
                    <a:pt x="34070" y="0"/>
                  </a:moveTo>
                  <a:lnTo>
                    <a:pt x="4125100" y="0"/>
                  </a:lnTo>
                  <a:cubicBezTo>
                    <a:pt x="4134136" y="0"/>
                    <a:pt x="4142802" y="3590"/>
                    <a:pt x="4149191" y="9979"/>
                  </a:cubicBezTo>
                  <a:cubicBezTo>
                    <a:pt x="4155580" y="16368"/>
                    <a:pt x="4159170" y="25034"/>
                    <a:pt x="4159170" y="34070"/>
                  </a:cubicBezTo>
                  <a:lnTo>
                    <a:pt x="4159170" y="1459269"/>
                  </a:lnTo>
                  <a:cubicBezTo>
                    <a:pt x="4159170" y="1478085"/>
                    <a:pt x="4143916" y="1493339"/>
                    <a:pt x="4125100" y="1493339"/>
                  </a:cubicBezTo>
                  <a:lnTo>
                    <a:pt x="34070" y="1493339"/>
                  </a:lnTo>
                  <a:cubicBezTo>
                    <a:pt x="25034" y="1493339"/>
                    <a:pt x="16368" y="1489749"/>
                    <a:pt x="9979" y="1483360"/>
                  </a:cubicBezTo>
                  <a:cubicBezTo>
                    <a:pt x="3590" y="1476971"/>
                    <a:pt x="0" y="1468305"/>
                    <a:pt x="0" y="1459269"/>
                  </a:cubicBezTo>
                  <a:lnTo>
                    <a:pt x="0" y="34070"/>
                  </a:lnTo>
                  <a:cubicBezTo>
                    <a:pt x="0" y="25034"/>
                    <a:pt x="3590" y="16368"/>
                    <a:pt x="9979" y="9979"/>
                  </a:cubicBezTo>
                  <a:cubicBezTo>
                    <a:pt x="16368" y="3590"/>
                    <a:pt x="25034" y="0"/>
                    <a:pt x="34070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059"/>
              <a:ext cx="4159132" cy="1627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946848" y="1978634"/>
            <a:ext cx="4957048" cy="55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Hệ thống đạt mục tiêu đề ra.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038600" y="2552700"/>
            <a:ext cx="7098030" cy="62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Ứng dụng AI và OCR mang lại hiệu quả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cao.</a:t>
            </a:r>
            <a:endParaRPr lang="vi-VN" alt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038288" y="3151170"/>
            <a:ext cx="11588855" cy="124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Hệ thống hỗ trợ quản lý hàng tồn, nhập/xuất kho một</a:t>
            </a:r>
            <a:r>
              <a:rPr lang="vi-VN" alt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</a:t>
            </a: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cách hiệu 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quả và trực quan.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038493" y="4370854"/>
            <a:ext cx="10934343" cy="116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✅ Tính năng AI gợi ý đặt hàng giúp tiết kiệm thời gian và ra quyết định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  <a:p>
            <a:pPr algn="l">
              <a:lnSpc>
                <a:spcPts val="4840"/>
              </a:lnSpc>
              <a:spcBef>
                <a:spcPct val="0"/>
              </a:spcBef>
            </a:pPr>
            <a:r>
              <a:rPr lang="en-US" sz="2520" b="1">
                <a:solidFill>
                  <a:srgbClr val="00569E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 chính xác hơn, góp phần nâng cao hiệu quả vận hành kho.</a:t>
            </a:r>
            <a:endParaRPr lang="en-US" sz="2520" b="1">
              <a:solidFill>
                <a:srgbClr val="00569E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  <p:sp>
        <p:nvSpPr>
          <p:cNvPr id="16" name="Freeform 16"/>
          <p:cNvSpPr/>
          <p:nvPr/>
        </p:nvSpPr>
        <p:spPr>
          <a:xfrm rot="5045298" flipV="1">
            <a:off x="13060512" y="1743804"/>
            <a:ext cx="8900926" cy="3641288"/>
          </a:xfrm>
          <a:custGeom>
            <a:avLst/>
            <a:gdLst/>
            <a:ahLst/>
            <a:cxnLst/>
            <a:rect l="l" t="t" r="r" b="b"/>
            <a:pathLst>
              <a:path w="8900926" h="3641288">
                <a:moveTo>
                  <a:pt x="0" y="3641288"/>
                </a:moveTo>
                <a:lnTo>
                  <a:pt x="8900927" y="3641288"/>
                </a:lnTo>
                <a:lnTo>
                  <a:pt x="8900927" y="0"/>
                </a:lnTo>
                <a:lnTo>
                  <a:pt x="0" y="0"/>
                </a:lnTo>
                <a:lnTo>
                  <a:pt x="0" y="364128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7653485" flipV="1">
            <a:off x="-5152632" y="335524"/>
            <a:ext cx="12396990" cy="5071496"/>
          </a:xfrm>
          <a:custGeom>
            <a:avLst/>
            <a:gdLst/>
            <a:ahLst/>
            <a:cxnLst/>
            <a:rect l="l" t="t" r="r" b="b"/>
            <a:pathLst>
              <a:path w="12396990" h="5071496">
                <a:moveTo>
                  <a:pt x="0" y="5071496"/>
                </a:moveTo>
                <a:lnTo>
                  <a:pt x="12396990" y="5071496"/>
                </a:lnTo>
                <a:lnTo>
                  <a:pt x="12396990" y="0"/>
                </a:lnTo>
                <a:lnTo>
                  <a:pt x="0" y="0"/>
                </a:lnTo>
                <a:lnTo>
                  <a:pt x="0" y="507149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366180">
            <a:off x="-4416518" y="6936647"/>
            <a:ext cx="15248943" cy="6238204"/>
          </a:xfrm>
          <a:custGeom>
            <a:avLst/>
            <a:gdLst/>
            <a:ahLst/>
            <a:cxnLst/>
            <a:rect l="l" t="t" r="r" b="b"/>
            <a:pathLst>
              <a:path w="15248943" h="6238204">
                <a:moveTo>
                  <a:pt x="0" y="0"/>
                </a:moveTo>
                <a:lnTo>
                  <a:pt x="15248943" y="0"/>
                </a:lnTo>
                <a:lnTo>
                  <a:pt x="15248943" y="6238203"/>
                </a:lnTo>
                <a:lnTo>
                  <a:pt x="0" y="62382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321539">
            <a:off x="15003125" y="7181436"/>
            <a:ext cx="10046825" cy="10046825"/>
          </a:xfrm>
          <a:custGeom>
            <a:avLst/>
            <a:gdLst/>
            <a:ahLst/>
            <a:cxnLst/>
            <a:rect l="l" t="t" r="r" b="b"/>
            <a:pathLst>
              <a:path w="10046825" h="10046825">
                <a:moveTo>
                  <a:pt x="0" y="0"/>
                </a:moveTo>
                <a:lnTo>
                  <a:pt x="10046826" y="0"/>
                </a:lnTo>
                <a:lnTo>
                  <a:pt x="10046826" y="10046825"/>
                </a:lnTo>
                <a:lnTo>
                  <a:pt x="0" y="100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18"/>
          <p:cNvGrpSpPr/>
          <p:nvPr/>
        </p:nvGrpSpPr>
        <p:grpSpPr>
          <a:xfrm rot="-10800000">
            <a:off x="2934335" y="1348105"/>
            <a:ext cx="4236720" cy="664210"/>
            <a:chOff x="0" y="0"/>
            <a:chExt cx="823551" cy="543720"/>
          </a:xfrm>
        </p:grpSpPr>
        <p:sp>
          <p:nvSpPr>
            <p:cNvPr id="21" name="Freeform 19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22" name="TextBox 20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1"/>
          <p:cNvSpPr txBox="1"/>
          <p:nvPr/>
        </p:nvSpPr>
        <p:spPr>
          <a:xfrm>
            <a:off x="3947160" y="1207135"/>
            <a:ext cx="2944495" cy="704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1" indent="0" algn="l">
              <a:lnSpc>
                <a:spcPts val="5530"/>
              </a:lnSpc>
            </a:pPr>
            <a:r>
              <a:rPr lang="vi-VN" altLang="en-US" sz="2800" b="1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KẾT LUẬN</a:t>
            </a:r>
            <a:endParaRPr lang="vi-VN" altLang="en-US" sz="2800" b="1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  <p:grpSp>
        <p:nvGrpSpPr>
          <p:cNvPr id="24" name="Group 18"/>
          <p:cNvGrpSpPr/>
          <p:nvPr/>
        </p:nvGrpSpPr>
        <p:grpSpPr>
          <a:xfrm rot="-10800000">
            <a:off x="2720975" y="6097905"/>
            <a:ext cx="6710680" cy="664210"/>
            <a:chOff x="0" y="0"/>
            <a:chExt cx="823551" cy="543720"/>
          </a:xfrm>
        </p:grpSpPr>
        <p:sp>
          <p:nvSpPr>
            <p:cNvPr id="25" name="Freeform 19"/>
            <p:cNvSpPr/>
            <p:nvPr/>
          </p:nvSpPr>
          <p:spPr>
            <a:xfrm>
              <a:off x="28878" y="0"/>
              <a:ext cx="775433" cy="543720"/>
            </a:xfrm>
            <a:custGeom>
              <a:avLst/>
              <a:gdLst/>
              <a:ahLst/>
              <a:cxnLst/>
              <a:rect l="l" t="t" r="r" b="b"/>
              <a:pathLst>
                <a:path w="775433" h="543720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0047AB"/>
            </a:solidFill>
          </p:spPr>
        </p:sp>
        <p:sp>
          <p:nvSpPr>
            <p:cNvPr id="26" name="TextBox 20"/>
            <p:cNvSpPr txBox="1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1"/>
          <p:cNvSpPr txBox="1"/>
          <p:nvPr/>
        </p:nvSpPr>
        <p:spPr>
          <a:xfrm>
            <a:off x="3810000" y="5981700"/>
            <a:ext cx="5769610" cy="704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1" indent="0" algn="l">
              <a:lnSpc>
                <a:spcPts val="5530"/>
              </a:lnSpc>
            </a:pPr>
            <a:r>
              <a:rPr lang="vi-VN" altLang="en-US" sz="2800" b="1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HƯỚNG PHÁT TR</a:t>
            </a:r>
            <a:r>
              <a:rPr lang="vi-VN" altLang="en-US" sz="2800" b="1" spc="165">
                <a:solidFill>
                  <a:srgbClr val="FFFFFF"/>
                </a:solidFill>
                <a:latin typeface="Arial" panose="020B0604020202020204" pitchFamily="34" charset="0"/>
                <a:ea typeface="Montserrat Ultra-Bold" panose="00000900000000000000"/>
                <a:cs typeface="Arial" panose="020B0604020202020204" pitchFamily="34" charset="0"/>
                <a:sym typeface="Montserrat Ultra-Bold" panose="00000900000000000000"/>
              </a:rPr>
              <a:t>IỂN</a:t>
            </a:r>
            <a:endParaRPr lang="vi-VN" altLang="en-US" sz="2800" b="1" spc="165">
              <a:solidFill>
                <a:srgbClr val="FFFFFF"/>
              </a:solidFill>
              <a:latin typeface="Arial" panose="020B0604020202020204" pitchFamily="34" charset="0"/>
              <a:ea typeface="Montserrat Ultra-Bold" panose="00000900000000000000"/>
              <a:cs typeface="Arial" panose="020B0604020202020204" pitchFamily="34" charset="0"/>
              <a:sym typeface="Montserrat Ultra-Bold" panose="000009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4136339" y="1101671"/>
            <a:ext cx="19539075" cy="8156629"/>
            <a:chOff x="0" y="0"/>
            <a:chExt cx="1673246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73246" cy="698500"/>
            </a:xfrm>
            <a:custGeom>
              <a:avLst/>
              <a:gdLst/>
              <a:ahLst/>
              <a:cxnLst/>
              <a:rect l="l" t="t" r="r" b="b"/>
              <a:pathLst>
                <a:path w="1673246" h="698500">
                  <a:moveTo>
                    <a:pt x="1673246" y="349250"/>
                  </a:moveTo>
                  <a:lnTo>
                    <a:pt x="1470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70046" y="0"/>
                  </a:lnTo>
                  <a:lnTo>
                    <a:pt x="1673246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1B70E1">
                    <a:alpha val="100000"/>
                  </a:srgbClr>
                </a:gs>
                <a:gs pos="100000">
                  <a:srgbClr val="9CF4F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28575"/>
              <a:ext cx="1444646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2073357" y="2980312"/>
            <a:ext cx="9552502" cy="8272036"/>
            <a:chOff x="0" y="0"/>
            <a:chExt cx="4282440" cy="370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26803" r="-2680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475572" y="7985094"/>
            <a:ext cx="7315200" cy="4014216"/>
          </a:xfrm>
          <a:custGeom>
            <a:avLst/>
            <a:gdLst/>
            <a:ahLst/>
            <a:cxnLst/>
            <a:rect l="l" t="t" r="r" b="b"/>
            <a:pathLst>
              <a:path w="7315200" h="4014216">
                <a:moveTo>
                  <a:pt x="0" y="0"/>
                </a:moveTo>
                <a:lnTo>
                  <a:pt x="7315200" y="0"/>
                </a:lnTo>
                <a:lnTo>
                  <a:pt x="7315200" y="4014216"/>
                </a:lnTo>
                <a:lnTo>
                  <a:pt x="0" y="401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73357" y="-2007108"/>
            <a:ext cx="7315200" cy="4014216"/>
          </a:xfrm>
          <a:custGeom>
            <a:avLst/>
            <a:gdLst/>
            <a:ahLst/>
            <a:cxnLst/>
            <a:rect l="l" t="t" r="r" b="b"/>
            <a:pathLst>
              <a:path w="7315200" h="4014216">
                <a:moveTo>
                  <a:pt x="0" y="0"/>
                </a:moveTo>
                <a:lnTo>
                  <a:pt x="7315200" y="0"/>
                </a:lnTo>
                <a:lnTo>
                  <a:pt x="7315200" y="4014216"/>
                </a:lnTo>
                <a:lnTo>
                  <a:pt x="0" y="401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400" y="4152900"/>
            <a:ext cx="11744960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rial" panose="020B0604020202020204" pitchFamily="34" charset="0"/>
                <a:ea typeface="TT Hoves Bold" panose="02000003020000060003"/>
                <a:cs typeface="Arial" panose="020B0604020202020204" pitchFamily="34" charset="0"/>
                <a:sym typeface="TT Hoves Bold" panose="02000003020000060003"/>
              </a:rPr>
              <a:t>CẢM ƠN QUÝ THẦY CÔ</a:t>
            </a:r>
            <a:endParaRPr lang="en-US" sz="8000" b="1">
              <a:solidFill>
                <a:srgbClr val="FFFFFF"/>
              </a:solidFill>
              <a:latin typeface="Arial" panose="020B0604020202020204" pitchFamily="34" charset="0"/>
              <a:ea typeface="TT Hoves Bold" panose="02000003020000060003"/>
              <a:cs typeface="Arial" panose="020B0604020202020204" pitchFamily="34" charset="0"/>
              <a:sym typeface="TT Hoves Bold" panose="02000003020000060003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9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71500"/>
            <a:ext cx="5740029" cy="9144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39" name="Picture 39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83" y="723900"/>
            <a:ext cx="6240824" cy="822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6" descr="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0" y="419100"/>
            <a:ext cx="4224603" cy="914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3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495300"/>
            <a:ext cx="7850350" cy="9144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9" name="Picture 19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419100"/>
            <a:ext cx="4442460" cy="914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342900"/>
            <a:ext cx="8870934" cy="960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38100"/>
            <a:ext cx="10251212" cy="100584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62000" y="3695700"/>
            <a:ext cx="5923280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SƠ ĐỒ HOẠT ĐỘNG 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OCR + AI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 NHẬP LIỆU HÓA 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ĐƠN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38100"/>
            <a:ext cx="14557753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2095500"/>
            <a:ext cx="13314947" cy="7315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24400" y="723900"/>
            <a:ext cx="989012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SƠ ĐỒ TUẦN TỰ CHATBOT AI HỖ 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TRỢ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0" y="2019300"/>
            <a:ext cx="13064086" cy="7315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708400" y="876300"/>
            <a:ext cx="1087120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SƠ ĐỒ HOẠT 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ĐỘNG CHATBOT AI HỖ TRỢ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14400" y="3467100"/>
            <a:ext cx="720725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SƠ ĐỒ HOẠT ĐỘNG XỬ LÝ HÀNG HẾT HẠN / HƯ 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HỎNG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0"/>
            <a:ext cx="9144000" cy="10204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14300"/>
            <a:ext cx="14838806" cy="1005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1333500"/>
            <a:ext cx="14713527" cy="82296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29200" y="419100"/>
            <a:ext cx="95453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SƠ ĐỒ HOẠT ĐỘNG QUÉT MÃ </a:t>
            </a:r>
            <a:r>
              <a:rPr lang="vi-VN" altLang="en-US" sz="4000" b="1">
                <a:solidFill>
                  <a:srgbClr val="00569E"/>
                </a:solidFill>
                <a:latin typeface="Arial" panose="020B0604020202020204" pitchFamily="34" charset="0"/>
                <a:ea typeface="Montserrat Bold" panose="00000800000000000000"/>
                <a:cs typeface="Arial" panose="020B0604020202020204" pitchFamily="34" charset="0"/>
                <a:sym typeface="Montserrat Bold" panose="00000800000000000000"/>
              </a:rPr>
              <a:t>VẠCH</a:t>
            </a:r>
            <a:endParaRPr lang="vi-VN" altLang="en-US" sz="4000" b="1">
              <a:solidFill>
                <a:srgbClr val="00569E"/>
              </a:solidFill>
              <a:latin typeface="Arial" panose="020B0604020202020204" pitchFamily="34" charset="0"/>
              <a:ea typeface="Montserrat Bold" panose="00000800000000000000"/>
              <a:cs typeface="Arial" panose="020B0604020202020204" pitchFamily="34" charset="0"/>
              <a:sym typeface="Montserrat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114300"/>
            <a:ext cx="14630400" cy="10048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4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5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6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7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8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9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0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1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2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3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4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5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6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7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8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19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0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1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2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3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4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5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6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7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8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29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0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1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2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3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4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5.xml><?xml version="1.0" encoding="utf-8"?>
<p:tagLst xmlns:p="http://schemas.openxmlformats.org/presentationml/2006/main">
  <p:tag name="KSO_WM_DIAGRAM_VIRTUALLY_FRAME" val="{&quot;height&quot;:438.18929133858273,&quot;left&quot;:135.56007874015748,&quot;top&quot;:259.4607086614173,&quot;width&quot;:1163.7979527559055}"/>
</p:tagLst>
</file>

<file path=ppt/tags/tag36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37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38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39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0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1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2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3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4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5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6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7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8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49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0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1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2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3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4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5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6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7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8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59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0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1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2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3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4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5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6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7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8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69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0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1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2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3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4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5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6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ags/tag77.xml><?xml version="1.0" encoding="utf-8"?>
<p:tagLst xmlns:p="http://schemas.openxmlformats.org/presentationml/2006/main">
  <p:tag name="KSO_WM_DIAGRAM_VIRTUALLY_FRAME" val="{&quot;height&quot;:481.0951181102362,&quot;left&quot;:63.739999999999995,&quot;top&quot;:192.86763779527558,&quot;width&quot;:1312.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5021</Words>
  <Application>WPS Presentation</Application>
  <PresentationFormat>On-screen Show (4:3)</PresentationFormat>
  <Paragraphs>447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Arial</vt:lpstr>
      <vt:lpstr>SimSun</vt:lpstr>
      <vt:lpstr>Wingdings</vt:lpstr>
      <vt:lpstr>Garet Bold</vt:lpstr>
      <vt:lpstr>ESRI AMFM Electric</vt:lpstr>
      <vt:lpstr>TT Hoves Bold</vt:lpstr>
      <vt:lpstr>Canva Sans Bold</vt:lpstr>
      <vt:lpstr>TT Hoves</vt:lpstr>
      <vt:lpstr>Montserrat Ultra-Bold</vt:lpstr>
      <vt:lpstr>Montserrat</vt:lpstr>
      <vt:lpstr>Akzidenz-Grotesk Heavy</vt:lpstr>
      <vt:lpstr>Yu Gothic UI</vt:lpstr>
      <vt:lpstr>Open Sans 1 Bold</vt:lpstr>
      <vt:lpstr>Montserrat Bold</vt:lpstr>
      <vt:lpstr>Montserrat Italics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Giảng viên hướng dẫn: ThS. Cao Hữu Thanh Vũ Sinh viên thực hiện: Nguyễn Khánh Duy Lớp: 10_ĐH_CNPM3 MSSV: 1050080173</dc:title>
  <dc:creator/>
  <cp:lastModifiedBy>KHANH DUY</cp:lastModifiedBy>
  <cp:revision>71</cp:revision>
  <dcterms:created xsi:type="dcterms:W3CDTF">2006-08-16T00:00:00Z</dcterms:created>
  <dcterms:modified xsi:type="dcterms:W3CDTF">2025-12-25T00:51:29Z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2B38304FD43440CFB409F0E52CBE05EC_12</vt:lpwstr>
  </property>
  <property fmtid="{D5CDD505-2E9C-101B-9397-08002B2CF9AE}" pid="3" name="KSOProductBuildVer">
    <vt:lpwstr>1033-12.2.0.23196</vt:lpwstr>
  </property>
</Properties>
</file>